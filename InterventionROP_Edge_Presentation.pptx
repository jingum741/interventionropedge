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9.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71032f4-b2ad-cc6b-9c25-339ac5f8c8e4}">
          <p14:sldIdLst>
            <p14:sldId id="256"/>
            <p14:sldId id="257"/>
            <p14:sldId id="258"/>
            <p14:sldId id="259"/>
          </p14:sldIdLst>
        </p14:section>
        <p14:section name="Method" id="{8a0dc0b1-d9bc-5547-c1c6-7e64b47edde8}">
          <p14:sldIdLst>
            <p14:sldId id="260"/>
            <p14:sldId id="261"/>
            <p14:sldId id="262"/>
            <p14:sldId id="263"/>
          </p14:sldIdLst>
        </p14:section>
        <p14:section name="Results" id="{bc5e60f6-c7bc-927a-fc15-bf1483437ad7}">
          <p14:sldIdLst>
            <p14:sldId id="264"/>
            <p14:sldId id="265"/>
            <p14:sldId id="266"/>
            <p14:sldId id="267"/>
            <p14:sldId id="268"/>
            <p14:sldId id="269"/>
            <p14:sldId id="270"/>
          </p14:sldIdLst>
        </p14:section>
        <p14:section name="Conclusion" id="{d9f2e63c-e3e0-241e-a9d7-d9f2a580e102}">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3"/>
                </a:solidFill>
                <a:latin typeface="+mn-lt"/>
              </a:defRPr>
            </a:pPr>
            <a:r>
              <a:rPr sz="1400" b="0" i="0" u="none" strike="noStrike">
                <a:solidFill>
                  <a:srgbClr val="1B2A33"/>
                </a:solidFill>
                <a:latin typeface="+mn-lt"/>
              </a:rPr>
              <a:t>Urgency rank agreement (Spearman)</a:t>
            </a:r>
          </a:p>
        </c:rich>
      </c:tx>
      <c:layout/>
      <c:overlay val="0"/>
    </c:title>
    <c:autoTitleDeleted val="0"/>
    <c:plotArea>
      <c:layout/>
      <c:barChart>
        <c:barDir val="col"/>
        <c:grouping val="clustered"/>
        <c:varyColors val="0"/>
        <c:ser>
          <c:idx val="0"/>
          <c:order val="0"/>
          <c:tx>
            <c:strRef>
              <c:f>Sheet1!$B$1</c:f>
              <c:strCache>
                <c:ptCount val="1"/>
                <c:pt idx="0">
                  <c:v>Spearman correlation with true urgency</c:v>
                </c:pt>
              </c:strCache>
            </c:strRef>
          </c:tx>
          <c:spPr>
            <a:solidFill>
              <a:srgbClr val="0B4F6C"/>
            </a:solidFill>
            <a:effectLst/>
          </c:spPr>
          <c:invertIfNegative val="0"/>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dPt>
            <c:idx val="0"/>
            <c:invertIfNegative val="0"/>
            <c:bubble3D val="0"/>
            <c:spPr>
              <a:solidFill>
                <a:srgbClr val="0B4F6C"/>
              </a:solidFill>
              <a:effectLst/>
            </c:spPr>
          </c:dPt>
          <c:dPt>
            <c:idx val="1"/>
            <c:invertIfNegative val="0"/>
            <c:bubble3D val="0"/>
            <c:spPr>
              <a:solidFill>
                <a:srgbClr val="7A8C99"/>
              </a:solidFill>
              <a:effectLst/>
            </c:spPr>
          </c:dPt>
          <c:dPt>
            <c:idx val="2"/>
            <c:invertIfNegative val="0"/>
            <c:bubble3D val="0"/>
            <c:spPr>
              <a:solidFill>
                <a:srgbClr val="2A9D8F"/>
              </a:solidFill>
              <a:effectLst/>
            </c:spPr>
          </c:dPt>
          <c:cat>
            <c:multiLvlStrRef>
              <c:f>Sheet1!$A$2:$A$4</c:f>
              <c:multiLvlStrCache>
                <c:ptCount val="3"/>
                <c:lvl>
                  <c:pt idx="0">
                    <c:v>Stratified (ours)</c:v>
                  </c:pt>
                  <c:pt idx="1">
                    <c:v>Correlational</c:v>
                  </c:pt>
                  <c:pt idx="2">
                    <c:v>Unstratified</c:v>
                  </c:pt>
                </c:lvl>
              </c:multiLvlStrCache>
            </c:multiLvlStrRef>
          </c:cat>
          <c:val>
            <c:numRef>
              <c:f>Sheet1!$B$2:$B$4</c:f>
              <c:numCache>
                <c:formatCode>General</c:formatCode>
                <c:ptCount val="3"/>
                <c:pt idx="0">
                  <c:v>0.95</c:v>
                </c:pt>
                <c:pt idx="1">
                  <c:v>0.941</c:v>
                </c:pt>
                <c:pt idx="2">
                  <c:v>0.962</c:v>
                </c:pt>
              </c:numCache>
            </c:numRef>
          </c:val>
        </c:ser>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D5DEE3"/>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1B2A3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3"/>
                </a:solidFill>
                <a:latin typeface="+mn-lt"/>
              </a:defRPr>
            </a:pPr>
            <a:r>
              <a:rPr sz="1400" b="0" i="0" u="none" strike="noStrike">
                <a:solidFill>
                  <a:srgbClr val="1B2A33"/>
                </a:solidFill>
                <a:latin typeface="+mn-lt"/>
              </a:rPr>
              <a:t>Effect estimation error (PEHE, lower is better)</a:t>
            </a:r>
          </a:p>
        </c:rich>
      </c:tx>
      <c:layout/>
      <c:overlay val="0"/>
    </c:title>
    <c:autoTitleDeleted val="0"/>
    <c:plotArea>
      <c:layout/>
      <c:barChart>
        <c:barDir val="col"/>
        <c:grouping val="clustered"/>
        <c:varyColors val="0"/>
        <c:ser>
          <c:idx val="0"/>
          <c:order val="0"/>
          <c:tx>
            <c:strRef>
              <c:f>Sheet1!$B$1</c:f>
              <c:strCache>
                <c:ptCount val="1"/>
                <c:pt idx="0">
                  <c:v>PEHE</c:v>
                </c:pt>
              </c:strCache>
            </c:strRef>
          </c:tx>
          <c:spPr>
            <a:solidFill>
              <a:srgbClr val="E8665A"/>
            </a:solidFill>
            <a:effectLst/>
          </c:spPr>
          <c:invertIfNegative val="0"/>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dPt>
            <c:idx val="0"/>
            <c:invertIfNegative val="0"/>
            <c:bubble3D val="0"/>
            <c:spPr>
              <a:solidFill>
                <a:srgbClr val="E8665A"/>
              </a:solidFill>
              <a:effectLst/>
            </c:spPr>
          </c:dPt>
          <c:dPt>
            <c:idx val="1"/>
            <c:invertIfNegative val="0"/>
            <c:bubble3D val="0"/>
            <c:spPr>
              <a:solidFill>
                <a:srgbClr val="7A8C99"/>
              </a:solidFill>
              <a:effectLst/>
            </c:spPr>
          </c:dPt>
          <c:dPt>
            <c:idx val="2"/>
            <c:invertIfNegative val="0"/>
            <c:bubble3D val="0"/>
            <c:spPr>
              <a:solidFill>
                <a:srgbClr val="2A9D8F"/>
              </a:solidFill>
              <a:effectLst/>
            </c:spPr>
          </c:dPt>
          <c:cat>
            <c:multiLvlStrRef>
              <c:f>Sheet1!$A$2:$A$4</c:f>
              <c:multiLvlStrCache>
                <c:ptCount val="3"/>
                <c:lvl>
                  <c:pt idx="0">
                    <c:v>Stratified (ours)</c:v>
                  </c:pt>
                  <c:pt idx="1">
                    <c:v>Correlational</c:v>
                  </c:pt>
                  <c:pt idx="2">
                    <c:v>Unstratified</c:v>
                  </c:pt>
                </c:lvl>
              </c:multiLvlStrCache>
            </c:multiLvlStrRef>
          </c:cat>
          <c:val>
            <c:numRef>
              <c:f>Sheet1!$B$2:$B$4</c:f>
              <c:numCache>
                <c:formatCode>General</c:formatCode>
                <c:ptCount val="3"/>
                <c:pt idx="0">
                  <c:v>0.462</c:v>
                </c:pt>
                <c:pt idx="1">
                  <c:v>0.428</c:v>
                </c:pt>
                <c:pt idx="2">
                  <c:v>0.465</c:v>
                </c:pt>
              </c:numCache>
            </c:numRef>
          </c:val>
        </c:ser>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6350" cap="flat">
              <a:solidFill>
                <a:srgbClr val="D5DEE3"/>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1B2A3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3"/>
                </a:solidFill>
                <a:latin typeface="+mn-lt"/>
              </a:defRPr>
            </a:pPr>
            <a:r>
              <a:rPr sz="1400" b="0" i="0" u="none" strike="noStrike">
                <a:solidFill>
                  <a:srgbClr val="1B2A33"/>
                </a:solidFill>
                <a:latin typeface="+mn-lt"/>
              </a:rPr>
              <a:t>Threshold-crossing latency (s, lower is better)</a:t>
            </a:r>
          </a:p>
        </c:rich>
      </c:tx>
      <c:layout/>
      <c:overlay val="0"/>
    </c:title>
    <c:autoTitleDeleted val="0"/>
    <c:plotArea>
      <c:layout/>
      <c:barChart>
        <c:barDir val="col"/>
        <c:grouping val="clustered"/>
        <c:varyColors val="0"/>
        <c:ser>
          <c:idx val="0"/>
          <c:order val="0"/>
          <c:tx>
            <c:strRef>
              <c:f>Sheet1!$B$1</c:f>
              <c:strCache>
                <c:ptCount val="1"/>
                <c:pt idx="0">
                  <c:v>Crossing latency (s)</c:v>
                </c:pt>
              </c:strCache>
            </c:strRef>
          </c:tx>
          <c:spPr>
            <a:solidFill>
              <a:srgbClr val="7A8C99"/>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dPt>
            <c:idx val="0"/>
            <c:invertIfNegative val="0"/>
            <c:bubble3D val="0"/>
            <c:spPr>
              <a:solidFill>
                <a:srgbClr val="7A8C99"/>
              </a:solidFill>
              <a:effectLst/>
            </c:spPr>
          </c:dPt>
          <c:dPt>
            <c:idx val="1"/>
            <c:invertIfNegative val="0"/>
            <c:bubble3D val="0"/>
            <c:spPr>
              <a:solidFill>
                <a:srgbClr val="7A8C99"/>
              </a:solidFill>
              <a:effectLst/>
            </c:spPr>
          </c:dPt>
          <c:dPt>
            <c:idx val="2"/>
            <c:invertIfNegative val="0"/>
            <c:bubble3D val="0"/>
            <c:spPr>
              <a:solidFill>
                <a:srgbClr val="7A8C99"/>
              </a:solidFill>
              <a:effectLst/>
            </c:spPr>
          </c:dPt>
          <c:dPt>
            <c:idx val="3"/>
            <c:invertIfNegative val="0"/>
            <c:bubble3D val="0"/>
            <c:spPr>
              <a:solidFill>
                <a:srgbClr val="7A8C99"/>
              </a:solidFill>
              <a:effectLst/>
            </c:spPr>
          </c:dPt>
          <c:dPt>
            <c:idx val="4"/>
            <c:invertIfNegative val="0"/>
            <c:bubble3D val="0"/>
            <c:spPr>
              <a:solidFill>
                <a:srgbClr val="7A8C99"/>
              </a:solidFill>
              <a:effectLst/>
            </c:spPr>
          </c:dPt>
          <c:dPt>
            <c:idx val="5"/>
            <c:invertIfNegative val="0"/>
            <c:bubble3D val="0"/>
            <c:spPr>
              <a:solidFill>
                <a:srgbClr val="E8665A"/>
              </a:solidFill>
              <a:effectLst/>
            </c:spPr>
          </c:dPt>
          <c:cat>
            <c:multiLvlStrRef>
              <c:f>Sheet1!$A$2:$A$7</c:f>
              <c:multiLvlStrCache>
                <c:ptCount val="6"/>
                <c:lvl>
                  <c:pt idx="0">
                    <c:v>HGAT-PPO</c:v>
                  </c:pt>
                  <c:pt idx="1">
                    <c:v>PPO-RA</c:v>
                  </c:pt>
                  <c:pt idx="2">
                    <c:v>PD-NoisyDQN</c:v>
                  </c:pt>
                  <c:pt idx="3">
                    <c:v>DT-QMIX</c:v>
                  </c:pt>
                  <c:pt idx="4">
                    <c:v>JOFO-FedDQN</c:v>
                  </c:pt>
                  <c:pt idx="5">
                    <c:v>Ours</c:v>
                  </c:pt>
                </c:lvl>
              </c:multiLvlStrCache>
            </c:multiLvlStrRef>
          </c:cat>
          <c:val>
            <c:numRef>
              <c:f>Sheet1!$B$2:$B$7</c:f>
              <c:numCache>
                <c:formatCode>General</c:formatCode>
                <c:ptCount val="6"/>
                <c:pt idx="0">
                  <c:v>488.8</c:v>
                </c:pt>
                <c:pt idx="1">
                  <c:v>294.8</c:v>
                </c:pt>
                <c:pt idx="2">
                  <c:v>244.1</c:v>
                </c:pt>
                <c:pt idx="3">
                  <c:v>253.6</c:v>
                </c:pt>
                <c:pt idx="4">
                  <c:v>863.9</c:v>
                </c:pt>
                <c:pt idx="5">
                  <c:v>321.1</c:v>
                </c:pt>
              </c:numCache>
            </c:numRef>
          </c:val>
        </c:ser>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1000"/>
          <c:min val="0"/>
        </c:scaling>
        <c:delete val="0"/>
        <c:axPos val="l"/>
        <c:majorGridlines>
          <c:spPr>
            <a:ln w="6350" cap="flat">
              <a:solidFill>
                <a:srgbClr val="D5DEE3"/>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1B2A3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3"/>
                </a:solidFill>
                <a:latin typeface="+mn-lt"/>
              </a:defRPr>
            </a:pPr>
            <a:r>
              <a:rPr sz="1400" b="0" i="0" u="none" strike="noStrike">
                <a:solidFill>
                  <a:srgbClr val="1B2A33"/>
                </a:solidFill>
                <a:latin typeface="+mn-lt"/>
              </a:rPr>
              <a:t>Energy per node and round (mJ, lower is better)</a:t>
            </a:r>
          </a:p>
        </c:rich>
      </c:tx>
      <c:layout/>
      <c:overlay val="0"/>
    </c:title>
    <c:autoTitleDeleted val="0"/>
    <c:plotArea>
      <c:layout/>
      <c:barChart>
        <c:barDir val="col"/>
        <c:grouping val="clustered"/>
        <c:varyColors val="0"/>
        <c:ser>
          <c:idx val="0"/>
          <c:order val="0"/>
          <c:tx>
            <c:strRef>
              <c:f>Sheet1!$B$1</c:f>
              <c:strCache>
                <c:ptCount val="1"/>
                <c:pt idx="0">
                  <c:v>Energy (mJ)</c:v>
                </c:pt>
              </c:strCache>
            </c:strRef>
          </c:tx>
          <c:spPr>
            <a:solidFill>
              <a:srgbClr val="7A8C99"/>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dPt>
            <c:idx val="0"/>
            <c:invertIfNegative val="0"/>
            <c:bubble3D val="0"/>
            <c:spPr>
              <a:solidFill>
                <a:srgbClr val="7A8C99"/>
              </a:solidFill>
              <a:effectLst/>
            </c:spPr>
          </c:dPt>
          <c:dPt>
            <c:idx val="1"/>
            <c:invertIfNegative val="0"/>
            <c:bubble3D val="0"/>
            <c:spPr>
              <a:solidFill>
                <a:srgbClr val="7A8C99"/>
              </a:solidFill>
              <a:effectLst/>
            </c:spPr>
          </c:dPt>
          <c:dPt>
            <c:idx val="2"/>
            <c:invertIfNegative val="0"/>
            <c:bubble3D val="0"/>
            <c:spPr>
              <a:solidFill>
                <a:srgbClr val="7A8C99"/>
              </a:solidFill>
              <a:effectLst/>
            </c:spPr>
          </c:dPt>
          <c:dPt>
            <c:idx val="3"/>
            <c:invertIfNegative val="0"/>
            <c:bubble3D val="0"/>
            <c:spPr>
              <a:solidFill>
                <a:srgbClr val="7A8C99"/>
              </a:solidFill>
              <a:effectLst/>
            </c:spPr>
          </c:dPt>
          <c:dPt>
            <c:idx val="4"/>
            <c:invertIfNegative val="0"/>
            <c:bubble3D val="0"/>
            <c:spPr>
              <a:solidFill>
                <a:srgbClr val="7A8C99"/>
              </a:solidFill>
              <a:effectLst/>
            </c:spPr>
          </c:dPt>
          <c:dPt>
            <c:idx val="5"/>
            <c:invertIfNegative val="0"/>
            <c:bubble3D val="0"/>
            <c:spPr>
              <a:solidFill>
                <a:srgbClr val="E8665A"/>
              </a:solidFill>
              <a:effectLst/>
            </c:spPr>
          </c:dPt>
          <c:cat>
            <c:multiLvlStrRef>
              <c:f>Sheet1!$A$2:$A$7</c:f>
              <c:multiLvlStrCache>
                <c:ptCount val="6"/>
                <c:lvl>
                  <c:pt idx="0">
                    <c:v>HGAT-PPO</c:v>
                  </c:pt>
                  <c:pt idx="1">
                    <c:v>PPO-RA</c:v>
                  </c:pt>
                  <c:pt idx="2">
                    <c:v>PD-NoisyDQN</c:v>
                  </c:pt>
                  <c:pt idx="3">
                    <c:v>DT-QMIX</c:v>
                  </c:pt>
                  <c:pt idx="4">
                    <c:v>JOFO-FedDQN</c:v>
                  </c:pt>
                  <c:pt idx="5">
                    <c:v>Ours</c:v>
                  </c:pt>
                </c:lvl>
              </c:multiLvlStrCache>
            </c:multiLvlStrRef>
          </c:cat>
          <c:val>
            <c:numRef>
              <c:f>Sheet1!$B$2:$B$7</c:f>
              <c:numCache>
                <c:formatCode>General</c:formatCode>
                <c:ptCount val="6"/>
                <c:pt idx="0">
                  <c:v>176.3</c:v>
                </c:pt>
                <c:pt idx="1">
                  <c:v>302.6</c:v>
                </c:pt>
                <c:pt idx="2">
                  <c:v>246.3</c:v>
                </c:pt>
                <c:pt idx="3">
                  <c:v>272.6</c:v>
                </c:pt>
                <c:pt idx="4">
                  <c:v>187.1</c:v>
                </c:pt>
                <c:pt idx="5">
                  <c:v>264.3</c:v>
                </c:pt>
              </c:numCache>
            </c:numRef>
          </c:val>
        </c:ser>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350"/>
          <c:min val="0"/>
        </c:scaling>
        <c:delete val="0"/>
        <c:axPos val="l"/>
        <c:majorGridlines>
          <c:spPr>
            <a:ln w="6350" cap="flat">
              <a:solidFill>
                <a:srgbClr val="D5DEE3"/>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1B2A3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3"/>
                </a:solidFill>
                <a:latin typeface="+mn-lt"/>
              </a:defRPr>
            </a:pPr>
            <a:r>
              <a:rPr sz="1400" b="0" i="0" u="none" strike="noStrike">
                <a:solidFill>
                  <a:srgbClr val="1B2A33"/>
                </a:solidFill>
                <a:latin typeface="+mn-lt"/>
              </a:rPr>
              <a:t>Crossing latency (s) vs number of nodes</a:t>
            </a:r>
          </a:p>
        </c:rich>
      </c:tx>
      <c:layout/>
      <c:overlay val="0"/>
    </c:title>
    <c:autoTitleDeleted val="0"/>
    <c:plotArea>
      <c:layout/>
      <c:lineChart>
        <c:varyColors val="0"/>
        <c:ser>
          <c:idx val="0"/>
          <c:order val="0"/>
          <c:tx>
            <c:strRef>
              <c:f>Sheet1!$B$1</c:f>
              <c:strCache>
                <c:ptCount val="1"/>
                <c:pt idx="0">
                  <c:v>HGAT-PPO</c:v>
                </c:pt>
              </c:strCache>
            </c:strRef>
          </c:tx>
          <c:spPr>
            <a:solidFill>
              <a:srgbClr val="7A8C99"/>
            </a:solidFill>
            <a:ln w="25400" cap="flat">
              <a:solidFill>
                <a:srgbClr val="7A8C99"/>
              </a:solidFill>
              <a:prstDash val="solid"/>
              <a:round/>
            </a:ln>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marker>
            <c:symbol val="circle"/>
            <c:size val="7"/>
            <c:spPr>
              <a:solidFill>
                <a:srgbClr val="7A8C99"/>
              </a:solidFill>
              <a:ln w="9525" cap="flat">
                <a:solidFill>
                  <a:srgbClr val="7A8C99"/>
                </a:solidFill>
                <a:prstDash val="solid"/>
                <a:round/>
              </a:ln>
              <a:effectLst/>
            </c:spPr>
          </c:marker>
          <c:cat>
            <c:multiLvlStrRef>
              <c:f>Sheet1!$A$2:$A$5</c:f>
              <c:multiLvlStrCache>
                <c:ptCount val="4"/>
                <c:lvl>
                  <c:pt idx="0">
                    <c:v>10</c:v>
                  </c:pt>
                  <c:pt idx="1">
                    <c:v>20</c:v>
                  </c:pt>
                  <c:pt idx="2">
                    <c:v>30</c:v>
                  </c:pt>
                  <c:pt idx="3">
                    <c:v>40</c:v>
                  </c:pt>
                </c:lvl>
              </c:multiLvlStrCache>
            </c:multiLvlStrRef>
          </c:cat>
          <c:val>
            <c:numRef>
              <c:f>Sheet1!$B$2:$B$5</c:f>
              <c:numCache>
                <c:formatCode>General</c:formatCode>
                <c:ptCount val="4"/>
                <c:pt idx="0">
                  <c:v>448.8</c:v>
                </c:pt>
                <c:pt idx="1">
                  <c:v>523</c:v>
                </c:pt>
                <c:pt idx="2">
                  <c:v>674.2</c:v>
                </c:pt>
                <c:pt idx="3">
                  <c:v>909.1</c:v>
                </c:pt>
              </c:numCache>
            </c:numRef>
          </c:val>
          <c:smooth val="0"/>
        </c:ser>
        <c:ser>
          <c:idx val="1"/>
          <c:order val="1"/>
          <c:tx>
            <c:strRef>
              <c:f>Sheet1!$C$1</c:f>
              <c:strCache>
                <c:ptCount val="1"/>
                <c:pt idx="0">
                  <c:v>PPO-RA</c:v>
                </c:pt>
              </c:strCache>
            </c:strRef>
          </c:tx>
          <c:spPr>
            <a:solidFill>
              <a:srgbClr val="2A9D8F"/>
            </a:solidFill>
            <a:ln w="25400" cap="flat">
              <a:solidFill>
                <a:srgbClr val="2A9D8F"/>
              </a:solidFill>
              <a:prstDash val="solid"/>
              <a:round/>
            </a:ln>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marker>
            <c:symbol val="circle"/>
            <c:size val="7"/>
            <c:spPr>
              <a:solidFill>
                <a:srgbClr val="2A9D8F"/>
              </a:solidFill>
              <a:ln w="9525" cap="flat">
                <a:solidFill>
                  <a:srgbClr val="2A9D8F"/>
                </a:solidFill>
                <a:prstDash val="solid"/>
                <a:round/>
              </a:ln>
              <a:effectLst/>
            </c:spPr>
          </c:marker>
          <c:cat>
            <c:multiLvlStrRef>
              <c:f>Sheet1!$A$2:$A$5</c:f>
              <c:multiLvlStrCache>
                <c:ptCount val="4"/>
                <c:lvl>
                  <c:pt idx="0">
                    <c:v>10</c:v>
                  </c:pt>
                  <c:pt idx="1">
                    <c:v>20</c:v>
                  </c:pt>
                  <c:pt idx="2">
                    <c:v>30</c:v>
                  </c:pt>
                  <c:pt idx="3">
                    <c:v>40</c:v>
                  </c:pt>
                </c:lvl>
              </c:multiLvlStrCache>
            </c:multiLvlStrRef>
          </c:cat>
          <c:val>
            <c:numRef>
              <c:f>Sheet1!$C$2:$C$5</c:f>
              <c:numCache>
                <c:formatCode>General</c:formatCode>
                <c:ptCount val="4"/>
                <c:pt idx="0">
                  <c:v>296.5</c:v>
                </c:pt>
                <c:pt idx="1">
                  <c:v>307.3</c:v>
                </c:pt>
                <c:pt idx="2">
                  <c:v>299.9</c:v>
                </c:pt>
                <c:pt idx="3">
                  <c:v>359.1</c:v>
                </c:pt>
              </c:numCache>
            </c:numRef>
          </c:val>
          <c:smooth val="0"/>
        </c:ser>
        <c:ser>
          <c:idx val="2"/>
          <c:order val="2"/>
          <c:tx>
            <c:strRef>
              <c:f>Sheet1!$D$1</c:f>
              <c:strCache>
                <c:ptCount val="1"/>
                <c:pt idx="0">
                  <c:v>PD-NoisyDQN</c:v>
                </c:pt>
              </c:strCache>
            </c:strRef>
          </c:tx>
          <c:spPr>
            <a:solidFill>
              <a:srgbClr val="0B4F6C"/>
            </a:solidFill>
            <a:ln w="25400" cap="flat">
              <a:solidFill>
                <a:srgbClr val="0B4F6C"/>
              </a:solidFill>
              <a:prstDash val="solid"/>
              <a:round/>
            </a:ln>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marker>
            <c:symbol val="circle"/>
            <c:size val="7"/>
            <c:spPr>
              <a:solidFill>
                <a:srgbClr val="0B4F6C"/>
              </a:solidFill>
              <a:ln w="9525" cap="flat">
                <a:solidFill>
                  <a:srgbClr val="0B4F6C"/>
                </a:solidFill>
                <a:prstDash val="solid"/>
                <a:round/>
              </a:ln>
              <a:effectLst/>
            </c:spPr>
          </c:marker>
          <c:cat>
            <c:multiLvlStrRef>
              <c:f>Sheet1!$A$2:$A$5</c:f>
              <c:multiLvlStrCache>
                <c:ptCount val="4"/>
                <c:lvl>
                  <c:pt idx="0">
                    <c:v>10</c:v>
                  </c:pt>
                  <c:pt idx="1">
                    <c:v>20</c:v>
                  </c:pt>
                  <c:pt idx="2">
                    <c:v>30</c:v>
                  </c:pt>
                  <c:pt idx="3">
                    <c:v>40</c:v>
                  </c:pt>
                </c:lvl>
              </c:multiLvlStrCache>
            </c:multiLvlStrRef>
          </c:cat>
          <c:val>
            <c:numRef>
              <c:f>Sheet1!$D$2:$D$5</c:f>
              <c:numCache>
                <c:formatCode>General</c:formatCode>
                <c:ptCount val="4"/>
                <c:pt idx="0">
                  <c:v>220</c:v>
                </c:pt>
                <c:pt idx="1">
                  <c:v>272.4</c:v>
                </c:pt>
                <c:pt idx="2">
                  <c:v>358.6</c:v>
                </c:pt>
                <c:pt idx="3">
                  <c:v>450.2</c:v>
                </c:pt>
              </c:numCache>
            </c:numRef>
          </c:val>
          <c:smooth val="0"/>
        </c:ser>
        <c:ser>
          <c:idx val="3"/>
          <c:order val="3"/>
          <c:tx>
            <c:strRef>
              <c:f>Sheet1!$E$1</c:f>
              <c:strCache>
                <c:ptCount val="1"/>
                <c:pt idx="0">
                  <c:v>DT-QMIX</c:v>
                </c:pt>
              </c:strCache>
            </c:strRef>
          </c:tx>
          <c:spPr>
            <a:solidFill>
              <a:srgbClr val="F2B33D"/>
            </a:solidFill>
            <a:ln w="25400" cap="flat">
              <a:solidFill>
                <a:srgbClr val="F2B33D"/>
              </a:solidFill>
              <a:prstDash val="solid"/>
              <a:round/>
            </a:ln>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marker>
            <c:symbol val="circle"/>
            <c:size val="7"/>
            <c:spPr>
              <a:solidFill>
                <a:srgbClr val="F2B33D"/>
              </a:solidFill>
              <a:ln w="9525" cap="flat">
                <a:solidFill>
                  <a:srgbClr val="F2B33D"/>
                </a:solidFill>
                <a:prstDash val="solid"/>
                <a:round/>
              </a:ln>
              <a:effectLst/>
            </c:spPr>
          </c:marker>
          <c:cat>
            <c:multiLvlStrRef>
              <c:f>Sheet1!$A$2:$A$5</c:f>
              <c:multiLvlStrCache>
                <c:ptCount val="4"/>
                <c:lvl>
                  <c:pt idx="0">
                    <c:v>10</c:v>
                  </c:pt>
                  <c:pt idx="1">
                    <c:v>20</c:v>
                  </c:pt>
                  <c:pt idx="2">
                    <c:v>30</c:v>
                  </c:pt>
                  <c:pt idx="3">
                    <c:v>40</c:v>
                  </c:pt>
                </c:lvl>
              </c:multiLvlStrCache>
            </c:multiLvlStrRef>
          </c:cat>
          <c:val>
            <c:numRef>
              <c:f>Sheet1!$E$2:$E$5</c:f>
              <c:numCache>
                <c:formatCode>General</c:formatCode>
                <c:ptCount val="4"/>
                <c:pt idx="0">
                  <c:v>277.4</c:v>
                </c:pt>
                <c:pt idx="1">
                  <c:v>253.2</c:v>
                </c:pt>
                <c:pt idx="2">
                  <c:v>411.5</c:v>
                </c:pt>
                <c:pt idx="3">
                  <c:v>604.4</c:v>
                </c:pt>
              </c:numCache>
            </c:numRef>
          </c:val>
          <c:smooth val="0"/>
        </c:ser>
        <c:ser>
          <c:idx val="4"/>
          <c:order val="4"/>
          <c:tx>
            <c:strRef>
              <c:f>Sheet1!$F$1</c:f>
              <c:strCache>
                <c:ptCount val="1"/>
                <c:pt idx="0">
                  <c:v>Ours</c:v>
                </c:pt>
              </c:strCache>
            </c:strRef>
          </c:tx>
          <c:spPr>
            <a:solidFill>
              <a:srgbClr val="E8665A"/>
            </a:solidFill>
            <a:ln w="25400" cap="flat">
              <a:solidFill>
                <a:srgbClr val="E8665A"/>
              </a:solidFill>
              <a:prstDash val="solid"/>
              <a:round/>
            </a:ln>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marker>
            <c:symbol val="circle"/>
            <c:size val="7"/>
            <c:spPr>
              <a:solidFill>
                <a:srgbClr val="E8665A"/>
              </a:solidFill>
              <a:ln w="9525" cap="flat">
                <a:solidFill>
                  <a:srgbClr val="E8665A"/>
                </a:solidFill>
                <a:prstDash val="solid"/>
                <a:round/>
              </a:ln>
              <a:effectLst/>
            </c:spPr>
          </c:marker>
          <c:cat>
            <c:multiLvlStrRef>
              <c:f>Sheet1!$A$2:$A$5</c:f>
              <c:multiLvlStrCache>
                <c:ptCount val="4"/>
                <c:lvl>
                  <c:pt idx="0">
                    <c:v>10</c:v>
                  </c:pt>
                  <c:pt idx="1">
                    <c:v>20</c:v>
                  </c:pt>
                  <c:pt idx="2">
                    <c:v>30</c:v>
                  </c:pt>
                  <c:pt idx="3">
                    <c:v>40</c:v>
                  </c:pt>
                </c:lvl>
              </c:multiLvlStrCache>
            </c:multiLvlStrRef>
          </c:cat>
          <c:val>
            <c:numRef>
              <c:f>Sheet1!$F$2:$F$5</c:f>
              <c:numCache>
                <c:formatCode>General</c:formatCode>
                <c:ptCount val="4"/>
                <c:pt idx="0">
                  <c:v>190.5</c:v>
                </c:pt>
                <c:pt idx="1">
                  <c:v>380.9</c:v>
                </c:pt>
                <c:pt idx="2">
                  <c:v>380.9</c:v>
                </c:pt>
                <c:pt idx="3">
                  <c:v>869.5</c:v>
                </c:pt>
              </c:numCache>
            </c:numRef>
          </c:val>
          <c:smooth val="0"/>
        </c:ser>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1000"/>
          <c:min val="0"/>
        </c:scaling>
        <c:delete val="0"/>
        <c:axPos val="l"/>
        <c:majorGridlines>
          <c:spPr>
            <a:ln w="6350" cap="flat">
              <a:solidFill>
                <a:srgbClr val="D5DEE3"/>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1B2A3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B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3"/>
                </a:solidFill>
                <a:latin typeface="+mn-lt"/>
              </a:defRPr>
            </a:pPr>
            <a:r>
              <a:rPr sz="1400" b="0" i="0" u="none" strike="noStrike">
                <a:solidFill>
                  <a:srgbClr val="1B2A33"/>
                </a:solidFill>
                <a:latin typeface="+mn-lt"/>
              </a:rPr>
              <a:t>QoS index vs noise floor offset (dB)</a:t>
            </a:r>
          </a:p>
        </c:rich>
      </c:tx>
      <c:layout/>
      <c:overlay val="0"/>
    </c:title>
    <c:autoTitleDeleted val="0"/>
    <c:plotArea>
      <c:layout/>
      <c:lineChart>
        <c:varyColors val="0"/>
        <c:ser>
          <c:idx val="0"/>
          <c:order val="0"/>
          <c:tx>
            <c:strRef>
              <c:f>Sheet1!$B$1</c:f>
              <c:strCache>
                <c:ptCount val="1"/>
                <c:pt idx="0">
                  <c:v>HGAT-PPO</c:v>
                </c:pt>
              </c:strCache>
            </c:strRef>
          </c:tx>
          <c:spPr>
            <a:solidFill>
              <a:srgbClr val="7A8C99"/>
            </a:solidFill>
            <a:ln w="25400" cap="flat">
              <a:solidFill>
                <a:srgbClr val="7A8C99"/>
              </a:solidFill>
              <a:prstDash val="solid"/>
              <a:round/>
            </a:ln>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marker>
            <c:symbol val="circle"/>
            <c:size val="7"/>
            <c:spPr>
              <a:solidFill>
                <a:srgbClr val="7A8C99"/>
              </a:solidFill>
              <a:ln w="9525" cap="flat">
                <a:solidFill>
                  <a:srgbClr val="7A8C99"/>
                </a:solidFill>
                <a:prstDash val="solid"/>
                <a:round/>
              </a:ln>
              <a:effectLst/>
            </c:spPr>
          </c:marker>
          <c:cat>
            <c:multiLvlStrRef>
              <c:f>Sheet1!$A$2:$A$6</c:f>
              <c:multiLvlStrCache>
                <c:ptCount val="5"/>
                <c:lvl>
                  <c:pt idx="0">
                    <c:v>-6</c:v>
                  </c:pt>
                  <c:pt idx="1">
                    <c:v>-3</c:v>
                  </c:pt>
                  <c:pt idx="2">
                    <c:v>0</c:v>
                  </c:pt>
                  <c:pt idx="3">
                    <c:v>+3</c:v>
                  </c:pt>
                  <c:pt idx="4">
                    <c:v>+6</c:v>
                  </c:pt>
                </c:lvl>
              </c:multiLvlStrCache>
            </c:multiLvlStrRef>
          </c:cat>
          <c:val>
            <c:numRef>
              <c:f>Sheet1!$B$2:$B$6</c:f>
              <c:numCache>
                <c:formatCode>General</c:formatCode>
                <c:ptCount val="5"/>
                <c:pt idx="0">
                  <c:v>89.93</c:v>
                </c:pt>
                <c:pt idx="1">
                  <c:v>85.89</c:v>
                </c:pt>
                <c:pt idx="2">
                  <c:v>77.23</c:v>
                </c:pt>
                <c:pt idx="3">
                  <c:v>66.25</c:v>
                </c:pt>
                <c:pt idx="4">
                  <c:v>52.23</c:v>
                </c:pt>
              </c:numCache>
            </c:numRef>
          </c:val>
          <c:smooth val="0"/>
        </c:ser>
        <c:ser>
          <c:idx val="1"/>
          <c:order val="1"/>
          <c:tx>
            <c:strRef>
              <c:f>Sheet1!$C$1</c:f>
              <c:strCache>
                <c:ptCount val="1"/>
                <c:pt idx="0">
                  <c:v>PPO-RA</c:v>
                </c:pt>
              </c:strCache>
            </c:strRef>
          </c:tx>
          <c:spPr>
            <a:solidFill>
              <a:srgbClr val="2A9D8F"/>
            </a:solidFill>
            <a:ln w="25400" cap="flat">
              <a:solidFill>
                <a:srgbClr val="2A9D8F"/>
              </a:solidFill>
              <a:prstDash val="solid"/>
              <a:round/>
            </a:ln>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marker>
            <c:symbol val="circle"/>
            <c:size val="7"/>
            <c:spPr>
              <a:solidFill>
                <a:srgbClr val="2A9D8F"/>
              </a:solidFill>
              <a:ln w="9525" cap="flat">
                <a:solidFill>
                  <a:srgbClr val="2A9D8F"/>
                </a:solidFill>
                <a:prstDash val="solid"/>
                <a:round/>
              </a:ln>
              <a:effectLst/>
            </c:spPr>
          </c:marker>
          <c:cat>
            <c:multiLvlStrRef>
              <c:f>Sheet1!$A$2:$A$6</c:f>
              <c:multiLvlStrCache>
                <c:ptCount val="5"/>
                <c:lvl>
                  <c:pt idx="0">
                    <c:v>-6</c:v>
                  </c:pt>
                  <c:pt idx="1">
                    <c:v>-3</c:v>
                  </c:pt>
                  <c:pt idx="2">
                    <c:v>0</c:v>
                  </c:pt>
                  <c:pt idx="3">
                    <c:v>+3</c:v>
                  </c:pt>
                  <c:pt idx="4">
                    <c:v>+6</c:v>
                  </c:pt>
                </c:lvl>
              </c:multiLvlStrCache>
            </c:multiLvlStrRef>
          </c:cat>
          <c:val>
            <c:numRef>
              <c:f>Sheet1!$C$2:$C$6</c:f>
              <c:numCache>
                <c:formatCode>General</c:formatCode>
                <c:ptCount val="5"/>
                <c:pt idx="0">
                  <c:v>85.85</c:v>
                </c:pt>
                <c:pt idx="1">
                  <c:v>84.84</c:v>
                </c:pt>
                <c:pt idx="2">
                  <c:v>82.67</c:v>
                </c:pt>
                <c:pt idx="3">
                  <c:v>80.65</c:v>
                </c:pt>
                <c:pt idx="4">
                  <c:v>78.35</c:v>
                </c:pt>
              </c:numCache>
            </c:numRef>
          </c:val>
          <c:smooth val="0"/>
        </c:ser>
        <c:ser>
          <c:idx val="2"/>
          <c:order val="2"/>
          <c:tx>
            <c:strRef>
              <c:f>Sheet1!$D$1</c:f>
              <c:strCache>
                <c:ptCount val="1"/>
                <c:pt idx="0">
                  <c:v>PD-NoisyDQN</c:v>
                </c:pt>
              </c:strCache>
            </c:strRef>
          </c:tx>
          <c:spPr>
            <a:solidFill>
              <a:srgbClr val="0B4F6C"/>
            </a:solidFill>
            <a:ln w="25400" cap="flat">
              <a:solidFill>
                <a:srgbClr val="0B4F6C"/>
              </a:solidFill>
              <a:prstDash val="solid"/>
              <a:round/>
            </a:ln>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marker>
            <c:symbol val="circle"/>
            <c:size val="7"/>
            <c:spPr>
              <a:solidFill>
                <a:srgbClr val="0B4F6C"/>
              </a:solidFill>
              <a:ln w="9525" cap="flat">
                <a:solidFill>
                  <a:srgbClr val="0B4F6C"/>
                </a:solidFill>
                <a:prstDash val="solid"/>
                <a:round/>
              </a:ln>
              <a:effectLst/>
            </c:spPr>
          </c:marker>
          <c:cat>
            <c:multiLvlStrRef>
              <c:f>Sheet1!$A$2:$A$6</c:f>
              <c:multiLvlStrCache>
                <c:ptCount val="5"/>
                <c:lvl>
                  <c:pt idx="0">
                    <c:v>-6</c:v>
                  </c:pt>
                  <c:pt idx="1">
                    <c:v>-3</c:v>
                  </c:pt>
                  <c:pt idx="2">
                    <c:v>0</c:v>
                  </c:pt>
                  <c:pt idx="3">
                    <c:v>+3</c:v>
                  </c:pt>
                  <c:pt idx="4">
                    <c:v>+6</c:v>
                  </c:pt>
                </c:lvl>
              </c:multiLvlStrCache>
            </c:multiLvlStrRef>
          </c:cat>
          <c:val>
            <c:numRef>
              <c:f>Sheet1!$D$2:$D$6</c:f>
              <c:numCache>
                <c:formatCode>General</c:formatCode>
                <c:ptCount val="5"/>
                <c:pt idx="0">
                  <c:v>91.59</c:v>
                </c:pt>
                <c:pt idx="1">
                  <c:v>90.1</c:v>
                </c:pt>
                <c:pt idx="2">
                  <c:v>86.43</c:v>
                </c:pt>
                <c:pt idx="3">
                  <c:v>82</c:v>
                </c:pt>
                <c:pt idx="4">
                  <c:v>77.19</c:v>
                </c:pt>
              </c:numCache>
            </c:numRef>
          </c:val>
          <c:smooth val="0"/>
        </c:ser>
        <c:ser>
          <c:idx val="3"/>
          <c:order val="3"/>
          <c:tx>
            <c:strRef>
              <c:f>Sheet1!$E$1</c:f>
              <c:strCache>
                <c:ptCount val="1"/>
                <c:pt idx="0">
                  <c:v>DT-QMIX</c:v>
                </c:pt>
              </c:strCache>
            </c:strRef>
          </c:tx>
          <c:spPr>
            <a:solidFill>
              <a:srgbClr val="F2B33D"/>
            </a:solidFill>
            <a:ln w="25400" cap="flat">
              <a:solidFill>
                <a:srgbClr val="F2B33D"/>
              </a:solidFill>
              <a:prstDash val="solid"/>
              <a:round/>
            </a:ln>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marker>
            <c:symbol val="circle"/>
            <c:size val="7"/>
            <c:spPr>
              <a:solidFill>
                <a:srgbClr val="F2B33D"/>
              </a:solidFill>
              <a:ln w="9525" cap="flat">
                <a:solidFill>
                  <a:srgbClr val="F2B33D"/>
                </a:solidFill>
                <a:prstDash val="solid"/>
                <a:round/>
              </a:ln>
              <a:effectLst/>
            </c:spPr>
          </c:marker>
          <c:cat>
            <c:multiLvlStrRef>
              <c:f>Sheet1!$A$2:$A$6</c:f>
              <c:multiLvlStrCache>
                <c:ptCount val="5"/>
                <c:lvl>
                  <c:pt idx="0">
                    <c:v>-6</c:v>
                  </c:pt>
                  <c:pt idx="1">
                    <c:v>-3</c:v>
                  </c:pt>
                  <c:pt idx="2">
                    <c:v>0</c:v>
                  </c:pt>
                  <c:pt idx="3">
                    <c:v>+3</c:v>
                  </c:pt>
                  <c:pt idx="4">
                    <c:v>+6</c:v>
                  </c:pt>
                </c:lvl>
              </c:multiLvlStrCache>
            </c:multiLvlStrRef>
          </c:cat>
          <c:val>
            <c:numRef>
              <c:f>Sheet1!$E$2:$E$6</c:f>
              <c:numCache>
                <c:formatCode>General</c:formatCode>
                <c:ptCount val="5"/>
                <c:pt idx="0">
                  <c:v>91.26</c:v>
                </c:pt>
                <c:pt idx="1">
                  <c:v>88.5</c:v>
                </c:pt>
                <c:pt idx="2">
                  <c:v>83</c:v>
                </c:pt>
                <c:pt idx="3">
                  <c:v>75.06</c:v>
                </c:pt>
                <c:pt idx="4">
                  <c:v>67.96</c:v>
                </c:pt>
              </c:numCache>
            </c:numRef>
          </c:val>
          <c:smooth val="0"/>
        </c:ser>
        <c:ser>
          <c:idx val="4"/>
          <c:order val="4"/>
          <c:tx>
            <c:strRef>
              <c:f>Sheet1!$F$1</c:f>
              <c:strCache>
                <c:ptCount val="1"/>
                <c:pt idx="0">
                  <c:v>Ours</c:v>
                </c:pt>
              </c:strCache>
            </c:strRef>
          </c:tx>
          <c:spPr>
            <a:solidFill>
              <a:srgbClr val="E8665A"/>
            </a:solidFill>
            <a:ln w="25400" cap="flat">
              <a:solidFill>
                <a:srgbClr val="E8665A"/>
              </a:solidFill>
              <a:prstDash val="solid"/>
              <a:round/>
            </a:ln>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marker>
            <c:symbol val="circle"/>
            <c:size val="7"/>
            <c:spPr>
              <a:solidFill>
                <a:srgbClr val="E8665A"/>
              </a:solidFill>
              <a:ln w="9525" cap="flat">
                <a:solidFill>
                  <a:srgbClr val="E8665A"/>
                </a:solidFill>
                <a:prstDash val="solid"/>
                <a:round/>
              </a:ln>
              <a:effectLst/>
            </c:spPr>
          </c:marker>
          <c:cat>
            <c:multiLvlStrRef>
              <c:f>Sheet1!$A$2:$A$6</c:f>
              <c:multiLvlStrCache>
                <c:ptCount val="5"/>
                <c:lvl>
                  <c:pt idx="0">
                    <c:v>-6</c:v>
                  </c:pt>
                  <c:pt idx="1">
                    <c:v>-3</c:v>
                  </c:pt>
                  <c:pt idx="2">
                    <c:v>0</c:v>
                  </c:pt>
                  <c:pt idx="3">
                    <c:v>+3</c:v>
                  </c:pt>
                  <c:pt idx="4">
                    <c:v>+6</c:v>
                  </c:pt>
                </c:lvl>
              </c:multiLvlStrCache>
            </c:multiLvlStrRef>
          </c:cat>
          <c:val>
            <c:numRef>
              <c:f>Sheet1!$F$2:$F$6</c:f>
              <c:numCache>
                <c:formatCode>General</c:formatCode>
                <c:ptCount val="5"/>
                <c:pt idx="0">
                  <c:v>89</c:v>
                </c:pt>
                <c:pt idx="1">
                  <c:v>86.98</c:v>
                </c:pt>
                <c:pt idx="2">
                  <c:v>79.81</c:v>
                </c:pt>
                <c:pt idx="3">
                  <c:v>65.82</c:v>
                </c:pt>
                <c:pt idx="4">
                  <c:v>52.91</c:v>
                </c:pt>
              </c:numCache>
            </c:numRef>
          </c:val>
          <c:smooth val="0"/>
        </c:ser>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100"/>
          <c:min val="40"/>
        </c:scaling>
        <c:delete val="0"/>
        <c:axPos val="l"/>
        <c:majorGridlines>
          <c:spPr>
            <a:ln w="6350" cap="flat">
              <a:solidFill>
                <a:srgbClr val="D5DEE3"/>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1B2A3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B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3"/>
                </a:solidFill>
                <a:latin typeface="+mn-lt"/>
              </a:defRPr>
            </a:pPr>
            <a:r>
              <a:rPr sz="1400" b="0" i="0" u="none" strike="noStrike">
                <a:solidFill>
                  <a:srgbClr val="1B2A33"/>
                </a:solidFill>
                <a:latin typeface="+mn-lt"/>
              </a:rPr>
              <a:t>Crossing latency under GA shift (s)</a:t>
            </a:r>
          </a:p>
        </c:rich>
      </c:tx>
      <c:layout/>
      <c:overlay val="0"/>
    </c:title>
    <c:autoTitleDeleted val="0"/>
    <c:plotArea>
      <c:layout/>
      <c:barChart>
        <c:barDir val="col"/>
        <c:grouping val="clustered"/>
        <c:varyColors val="0"/>
        <c:ser>
          <c:idx val="0"/>
          <c:order val="0"/>
          <c:tx>
            <c:strRef>
              <c:f>Sheet1!$B$1</c:f>
              <c:strCache>
                <c:ptCount val="1"/>
                <c:pt idx="0">
                  <c:v>GA-shift crossing latency (s)</c:v>
                </c:pt>
              </c:strCache>
            </c:strRef>
          </c:tx>
          <c:spPr>
            <a:solidFill>
              <a:srgbClr val="7A8C99"/>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dPt>
            <c:idx val="0"/>
            <c:invertIfNegative val="0"/>
            <c:bubble3D val="0"/>
            <c:spPr>
              <a:solidFill>
                <a:srgbClr val="7A8C99"/>
              </a:solidFill>
              <a:effectLst/>
            </c:spPr>
          </c:dPt>
          <c:dPt>
            <c:idx val="1"/>
            <c:invertIfNegative val="0"/>
            <c:bubble3D val="0"/>
            <c:spPr>
              <a:solidFill>
                <a:srgbClr val="7A8C99"/>
              </a:solidFill>
              <a:effectLst/>
            </c:spPr>
          </c:dPt>
          <c:dPt>
            <c:idx val="2"/>
            <c:invertIfNegative val="0"/>
            <c:bubble3D val="0"/>
            <c:spPr>
              <a:solidFill>
                <a:srgbClr val="7A8C99"/>
              </a:solidFill>
              <a:effectLst/>
            </c:spPr>
          </c:dPt>
          <c:dPt>
            <c:idx val="3"/>
            <c:invertIfNegative val="0"/>
            <c:bubble3D val="0"/>
            <c:spPr>
              <a:solidFill>
                <a:srgbClr val="7A8C99"/>
              </a:solidFill>
              <a:effectLst/>
            </c:spPr>
          </c:dPt>
          <c:dPt>
            <c:idx val="4"/>
            <c:invertIfNegative val="0"/>
            <c:bubble3D val="0"/>
            <c:spPr>
              <a:solidFill>
                <a:srgbClr val="7A8C99"/>
              </a:solidFill>
              <a:effectLst/>
            </c:spPr>
          </c:dPt>
          <c:dPt>
            <c:idx val="5"/>
            <c:invertIfNegative val="0"/>
            <c:bubble3D val="0"/>
            <c:spPr>
              <a:solidFill>
                <a:srgbClr val="E8665A"/>
              </a:solidFill>
              <a:effectLst/>
            </c:spPr>
          </c:dPt>
          <c:cat>
            <c:multiLvlStrRef>
              <c:f>Sheet1!$A$2:$A$7</c:f>
              <c:multiLvlStrCache>
                <c:ptCount val="6"/>
                <c:lvl>
                  <c:pt idx="0">
                    <c:v>HGAT-PPO</c:v>
                  </c:pt>
                  <c:pt idx="1">
                    <c:v>PPO-RA</c:v>
                  </c:pt>
                  <c:pt idx="2">
                    <c:v>PD-NoisyDQN</c:v>
                  </c:pt>
                  <c:pt idx="3">
                    <c:v>DT-QMIX</c:v>
                  </c:pt>
                  <c:pt idx="4">
                    <c:v>JOFO-FedDQN</c:v>
                  </c:pt>
                  <c:pt idx="5">
                    <c:v>Ours</c:v>
                  </c:pt>
                </c:lvl>
              </c:multiLvlStrCache>
            </c:multiLvlStrRef>
          </c:cat>
          <c:val>
            <c:numRef>
              <c:f>Sheet1!$B$2:$B$7</c:f>
              <c:numCache>
                <c:formatCode>General</c:formatCode>
                <c:ptCount val="6"/>
                <c:pt idx="0">
                  <c:v>457.8</c:v>
                </c:pt>
                <c:pt idx="1">
                  <c:v>236.4</c:v>
                </c:pt>
                <c:pt idx="2">
                  <c:v>212.1</c:v>
                </c:pt>
                <c:pt idx="3">
                  <c:v>207.7</c:v>
                </c:pt>
                <c:pt idx="4">
                  <c:v>577</c:v>
                </c:pt>
                <c:pt idx="5">
                  <c:v>206.4</c:v>
                </c:pt>
              </c:numCache>
            </c:numRef>
          </c:val>
        </c:ser>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700"/>
          <c:min val="0"/>
        </c:scaling>
        <c:delete val="0"/>
        <c:axPos val="l"/>
        <c:majorGridlines>
          <c:spPr>
            <a:ln w="6350" cap="flat">
              <a:solidFill>
                <a:srgbClr val="D5DEE3"/>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1B2A3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3"/>
                </a:solidFill>
                <a:latin typeface="+mn-lt"/>
              </a:defRPr>
            </a:pPr>
            <a:r>
              <a:rPr sz="1400" b="0" i="0" u="none" strike="noStrike">
                <a:solidFill>
                  <a:srgbClr val="1B2A33"/>
                </a:solidFill>
                <a:latin typeface="+mn-lt"/>
              </a:rPr>
              <a:t>Rounds to first battery depletion (300 J)</a:t>
            </a:r>
          </a:p>
        </c:rich>
      </c:tx>
      <c:layout/>
      <c:overlay val="0"/>
    </c:title>
    <c:autoTitleDeleted val="0"/>
    <c:plotArea>
      <c:layout/>
      <c:barChart>
        <c:barDir val="col"/>
        <c:grouping val="clustered"/>
        <c:varyColors val="0"/>
        <c:ser>
          <c:idx val="0"/>
          <c:order val="0"/>
          <c:tx>
            <c:strRef>
              <c:f>Sheet1!$B$1</c:f>
              <c:strCache>
                <c:ptCount val="1"/>
                <c:pt idx="0">
                  <c:v>Lifetime (rounds)</c:v>
                </c:pt>
              </c:strCache>
            </c:strRef>
          </c:tx>
          <c:spPr>
            <a:solidFill>
              <a:srgbClr val="7A8C99"/>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dPt>
            <c:idx val="0"/>
            <c:invertIfNegative val="0"/>
            <c:bubble3D val="0"/>
            <c:spPr>
              <a:solidFill>
                <a:srgbClr val="7A8C99"/>
              </a:solidFill>
              <a:effectLst/>
            </c:spPr>
          </c:dPt>
          <c:dPt>
            <c:idx val="1"/>
            <c:invertIfNegative val="0"/>
            <c:bubble3D val="0"/>
            <c:spPr>
              <a:solidFill>
                <a:srgbClr val="7A8C99"/>
              </a:solidFill>
              <a:effectLst/>
            </c:spPr>
          </c:dPt>
          <c:dPt>
            <c:idx val="2"/>
            <c:invertIfNegative val="0"/>
            <c:bubble3D val="0"/>
            <c:spPr>
              <a:solidFill>
                <a:srgbClr val="7A8C99"/>
              </a:solidFill>
              <a:effectLst/>
            </c:spPr>
          </c:dPt>
          <c:dPt>
            <c:idx val="3"/>
            <c:invertIfNegative val="0"/>
            <c:bubble3D val="0"/>
            <c:spPr>
              <a:solidFill>
                <a:srgbClr val="7A8C99"/>
              </a:solidFill>
              <a:effectLst/>
            </c:spPr>
          </c:dPt>
          <c:dPt>
            <c:idx val="4"/>
            <c:invertIfNegative val="0"/>
            <c:bubble3D val="0"/>
            <c:spPr>
              <a:solidFill>
                <a:srgbClr val="7A8C99"/>
              </a:solidFill>
              <a:effectLst/>
            </c:spPr>
          </c:dPt>
          <c:dPt>
            <c:idx val="5"/>
            <c:invertIfNegative val="0"/>
            <c:bubble3D val="0"/>
            <c:spPr>
              <a:solidFill>
                <a:srgbClr val="E8665A"/>
              </a:solidFill>
              <a:effectLst/>
            </c:spPr>
          </c:dPt>
          <c:cat>
            <c:multiLvlStrRef>
              <c:f>Sheet1!$A$2:$A$7</c:f>
              <c:multiLvlStrCache>
                <c:ptCount val="6"/>
                <c:lvl>
                  <c:pt idx="0">
                    <c:v>HGAT-PPO</c:v>
                  </c:pt>
                  <c:pt idx="1">
                    <c:v>PPO-RA</c:v>
                  </c:pt>
                  <c:pt idx="2">
                    <c:v>PD-NoisyDQN</c:v>
                  </c:pt>
                  <c:pt idx="3">
                    <c:v>DT-QMIX</c:v>
                  </c:pt>
                  <c:pt idx="4">
                    <c:v>JOFO-FedDQN</c:v>
                  </c:pt>
                  <c:pt idx="5">
                    <c:v>Ours</c:v>
                  </c:pt>
                </c:lvl>
              </c:multiLvlStrCache>
            </c:multiLvlStrRef>
          </c:cat>
          <c:val>
            <c:numRef>
              <c:f>Sheet1!$B$2:$B$7</c:f>
              <c:numCache>
                <c:formatCode>General</c:formatCode>
                <c:ptCount val="6"/>
                <c:pt idx="0">
                  <c:v>1131.7</c:v>
                </c:pt>
                <c:pt idx="1">
                  <c:v>464</c:v>
                </c:pt>
                <c:pt idx="2">
                  <c:v>666</c:v>
                </c:pt>
                <c:pt idx="3">
                  <c:v>568.3</c:v>
                </c:pt>
                <c:pt idx="4">
                  <c:v>937.7</c:v>
                </c:pt>
                <c:pt idx="5">
                  <c:v>833</c:v>
                </c:pt>
              </c:numCache>
            </c:numRef>
          </c:val>
        </c:ser>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1300"/>
          <c:min val="0"/>
        </c:scaling>
        <c:delete val="0"/>
        <c:axPos val="l"/>
        <c:majorGridlines>
          <c:spPr>
            <a:ln w="6350" cap="flat">
              <a:solidFill>
                <a:srgbClr val="D5DEE3"/>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1B2A3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3"/>
                </a:solidFill>
                <a:latin typeface="+mn-lt"/>
              </a:defRPr>
            </a:pPr>
            <a:r>
              <a:rPr sz="1400" b="0" i="0" u="none" strike="noStrike">
                <a:solidFill>
                  <a:srgbClr val="1B2A33"/>
                </a:solidFill>
                <a:latin typeface="+mn-lt"/>
              </a:rPr>
              <a:t>Energy per node and round (mJ)</a:t>
            </a:r>
          </a:p>
        </c:rich>
      </c:tx>
      <c:layout/>
      <c:overlay val="0"/>
    </c:title>
    <c:autoTitleDeleted val="0"/>
    <c:plotArea>
      <c:layout/>
      <c:barChart>
        <c:barDir val="bar"/>
        <c:grouping val="clustered"/>
        <c:varyColors val="0"/>
        <c:ser>
          <c:idx val="0"/>
          <c:order val="0"/>
          <c:tx>
            <c:strRef>
              <c:f>Sheet1!$B$1</c:f>
              <c:strCache>
                <c:ptCount val="1"/>
                <c:pt idx="0">
                  <c:v>Energy (mJ)</c:v>
                </c:pt>
              </c:strCache>
            </c:strRef>
          </c:tx>
          <c:spPr>
            <a:solidFill>
              <a:srgbClr val="E8665A"/>
            </a:solidFill>
            <a:effectLst/>
          </c:spPr>
          <c:invertIfNegative val="0"/>
          <c:dLbls>
            <c:numFmt formatCode="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dPt>
            <c:idx val="0"/>
            <c:invertIfNegative val="0"/>
            <c:bubble3D val="0"/>
            <c:spPr>
              <a:solidFill>
                <a:srgbClr val="E8665A"/>
              </a:solidFill>
              <a:effectLst/>
            </c:spPr>
          </c:dPt>
          <c:dPt>
            <c:idx val="1"/>
            <c:invertIfNegative val="0"/>
            <c:bubble3D val="0"/>
            <c:spPr>
              <a:solidFill>
                <a:srgbClr val="7A8C99"/>
              </a:solidFill>
              <a:effectLst/>
            </c:spPr>
          </c:dPt>
          <c:dPt>
            <c:idx val="2"/>
            <c:invertIfNegative val="0"/>
            <c:bubble3D val="0"/>
            <c:spPr>
              <a:solidFill>
                <a:srgbClr val="7A8C99"/>
              </a:solidFill>
              <a:effectLst/>
            </c:spPr>
          </c:dPt>
          <c:dPt>
            <c:idx val="3"/>
            <c:invertIfNegative val="0"/>
            <c:bubble3D val="0"/>
            <c:spPr>
              <a:solidFill>
                <a:srgbClr val="7A8C99"/>
              </a:solidFill>
              <a:effectLst/>
            </c:spPr>
          </c:dPt>
          <c:dPt>
            <c:idx val="4"/>
            <c:invertIfNegative val="0"/>
            <c:bubble3D val="0"/>
            <c:spPr>
              <a:solidFill>
                <a:srgbClr val="7A8C99"/>
              </a:solidFill>
              <a:effectLst/>
            </c:spPr>
          </c:dPt>
          <c:dPt>
            <c:idx val="5"/>
            <c:invertIfNegative val="0"/>
            <c:bubble3D val="0"/>
            <c:spPr>
              <a:solidFill>
                <a:srgbClr val="7A8C99"/>
              </a:solidFill>
              <a:effectLst/>
            </c:spPr>
          </c:dPt>
          <c:cat>
            <c:multiLvlStrRef>
              <c:f>Sheet1!$A$2:$A$7</c:f>
              <c:multiLvlStrCache>
                <c:ptCount val="6"/>
                <c:lvl>
                  <c:pt idx="0">
                    <c:v>Full</c:v>
                  </c:pt>
                  <c:pt idx="1">
                    <c:v>No mask</c:v>
                  </c:pt>
                  <c:pt idx="2">
                    <c:v>No twin</c:v>
                  </c:pt>
                  <c:pt idx="3">
                    <c:v>No urgency replay</c:v>
                  </c:pt>
                  <c:pt idx="4">
                    <c:v>Correlational urgency</c:v>
                  </c:pt>
                  <c:pt idx="5">
                    <c:v>Unstratified urgency</c:v>
                  </c:pt>
                </c:lvl>
              </c:multiLvlStrCache>
            </c:multiLvlStrRef>
          </c:cat>
          <c:val>
            <c:numRef>
              <c:f>Sheet1!$B$2:$B$7</c:f>
              <c:numCache>
                <c:formatCode>General</c:formatCode>
                <c:ptCount val="6"/>
                <c:pt idx="0">
                  <c:v>264.3</c:v>
                </c:pt>
                <c:pt idx="1">
                  <c:v>251</c:v>
                </c:pt>
                <c:pt idx="2">
                  <c:v>292.8</c:v>
                </c:pt>
                <c:pt idx="3">
                  <c:v>316.8</c:v>
                </c:pt>
                <c:pt idx="4">
                  <c:v>281.7</c:v>
                </c:pt>
                <c:pt idx="5">
                  <c:v>414.6</c:v>
                </c:pt>
              </c:numCache>
            </c:numRef>
          </c:val>
        </c:ser>
        <c:dLbls>
          <c:numFmt formatCode="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450"/>
          <c:min val="0"/>
        </c:scaling>
        <c:delete val="0"/>
        <c:axPos val="b"/>
        <c:majorGridlines>
          <c:spPr>
            <a:ln w="6350" cap="flat">
              <a:solidFill>
                <a:srgbClr val="D5DEE3"/>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1B2A3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presents InterventionROP-Edge, a framework that schedules retinal imaging, offloading, and bandwidth in a neonatal intensive care unit according to the interventional urgency of each infant. The results are reported honestly, including where the strongest baseline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clinical problem is timing. The network problem is a low-rate shared link. The orchestration problem connects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challenges compound. Removing confounding needs an interventional estimate, that estimate must change transport decisions, and protecting high-risk infants costs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the model, the causal urgency, the masked controller, and a validation that reports the metrics where the strongest baseline remains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Nodes attach to the nearest of three gateways. Bandwidth shares are the normalized priority weights per gateway. Local inference costs 2.4 J and 40 s, so offloading saves energy when the link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runs offline on the clinical table. Stages 2 to 4 run every round. The mask applies both when acting and inside the learning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structural causal model has oxygen as a confounder of treatment and regression. The minimal back-door set is gestational age, oxygen, and stage. Two outcome models estimate regression under do(T=0) and do(T=1), and the urgency combines severity, untreated risk, and benefit. The mapping is monotone, which we prove as a lemma.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bandwidth bound holds for any network weights, including the untrained initialization, so protection does not depend on training quality. The price is fewer energy-saving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checks used validation seeds 9000 to 9004, which never enter the reported numbers. Outcomes are semi-synthetic because counterfactuals are never observed in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estimators reach attribution precision 0.800 and AUROC 0.775 against an oracle of 0.889 and 0.875. Oxygen adjustment does not lower the estimation error on this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controller sits between the strongest and weakest learners. HGAT-PPO has the lowest energy at the cost of high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Latency and energy are relative changes, negative is better. QoS and deadline, positive is better. With 10 pairs the smallest attainable p value is 0.002.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10 nodes we reach the lowest crossing latency, 190.5 s versus 220.0 s for PD-NoisyDQN. At 40 nodes the fixed mask threshold protects too many nodes per gateway. On degraded channels the mask forbids local inference for high-risk infants, which hurts.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shifted ward samples infants of 28 weeks or younger four times more often. HGAT-PPO and JOFO-FedDQN live longer because they spend less energy per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Removing the mask lowers energy by 5.0% and raises QoS by 3.36 points at 2.3% higher latency. Removing the twin lowers latency by 12.5% at 10.8% higher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limits bound every conclusion of the study and are listed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baseline, a prioritized noisy DQN, still leads in latency and service quality, which points to the mask threshold and offloading clause as the components to redesign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10881360" cy="2011680"/>
          </a:xfrm>
          <a:prstGeom prst="rect">
            <a:avLst/>
          </a:prstGeom>
          <a:noFill/>
          <a:ln/>
        </p:spPr>
        <p:txBody>
          <a:bodyPr wrap="square" rtlCol="0"/>
          <a:lstStyle>
            <a:lvl1pPr indent="0" marL="0">
              <a:buNone/>
              <a:defRPr lang="en-US" sz="3600" b="1" dirty="0">
                <a:solidFill>
                  <a:schemeClr val="bg1"/>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ph idx="101" type="body" hasCustomPrompt="1"/>
          </p:nvPr>
        </p:nvSpPr>
        <p:spPr>
          <a:xfrm>
            <a:off x="640080" y="3840480"/>
            <a:ext cx="1088136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InterventionROP-Edge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10881360" cy="2011680"/>
          </a:xfrm>
          <a:prstGeom prst="rect">
            <a:avLst/>
          </a:prstGeom>
          <a:noFill/>
          <a:ln/>
        </p:spPr>
        <p:txBody>
          <a:bodyPr wrap="square" rtlCol="0" anchor="b"/>
          <a:lstStyle/>
          <a:p>
            <a:pPr indent="0" marL="0">
              <a:buNone/>
            </a:pPr>
            <a:r>
              <a:rPr lang="en-US" sz="3600" b="1" dirty="0">
                <a:solidFill>
                  <a:schemeClr val="bg1"/>
                </a:solidFill>
                <a:latin typeface="Cambria" pitchFamily="34" charset="0"/>
                <a:ea typeface="Cambria" pitchFamily="34" charset="-122"/>
                <a:cs typeface="Cambria" pitchFamily="34" charset="-120"/>
              </a:rPr>
              <a:t>InterventionROP-Edge: Do-Calculus-Constrained Threshold-Aware Orchestration for ROP Triage in Neonatal Edge-IoT</a:t>
            </a:r>
            <a:endParaRPr lang="en-US" sz="3600" dirty="0"/>
          </a:p>
        </p:txBody>
      </p:sp>
      <p:sp>
        <p:nvSpPr>
          <p:cNvPr id="3" name="Text 0"/>
          <p:cNvSpPr/>
          <p:nvPr>
            <p:ph idx="101" type="body" hasCustomPrompt="1"/>
          </p:nvPr>
        </p:nvSpPr>
        <p:spPr>
          <a:xfrm>
            <a:off x="640080" y="3840480"/>
            <a:ext cx="10881360" cy="1463040"/>
          </a:xfrm>
          <a:prstGeom prst="rect">
            <a:avLst/>
          </a:prstGeom>
          <a:noFill/>
          <a:ln/>
        </p:spPr>
        <p:txBody>
          <a:bodyPr wrap="square" rtlCol="0" anchor="t"/>
          <a:lstStyle/>
          <a:p>
            <a:pPr indent="0" marL="0">
              <a:buNone/>
            </a:pPr>
            <a:r>
              <a:rPr lang="en-US" sz="1800" dirty="0">
                <a:solidFill>
                  <a:schemeClr val="bg2"/>
                </a:solidFill>
              </a:rPr>
              <a:t>Causal urgency estimation, masked deep Q-learning, and digital twin counterfactuals for neonatal intensive care networks</a:t>
            </a:r>
            <a:endParaRPr lang="en-US" sz="1800" dirty="0"/>
          </a:p>
        </p:txBody>
      </p:sp>
      <p:sp>
        <p:nvSpPr>
          <p:cNvPr id="4" name="title_badge_circle"/>
          <p:cNvSpPr/>
          <p:nvPr/>
        </p:nvSpPr>
        <p:spPr>
          <a:xfrm>
            <a:off x="640080" y="548640"/>
            <a:ext cx="822960" cy="822960"/>
          </a:xfrm>
          <a:prstGeom prst="ellipse">
            <a:avLst/>
          </a:prstGeom>
          <a:solidFill>
            <a:schemeClr val="accent2"/>
          </a:solidFill>
          <a:ln w="12700">
            <a:solidFill>
              <a:schemeClr val="accent2"/>
            </a:solidFill>
            <a:prstDash val="solid"/>
          </a:ln>
        </p:spPr>
      </p:sp>
      <p:pic>
        <p:nvPicPr>
          <p:cNvPr id="5" name="title_badge_icon" descr="title_badge">    </p:cNvPr>
          <p:cNvPicPr>
            <a:picLocks noChangeAspect="1"/>
          </p:cNvPicPr>
          <p:nvPr/>
        </p:nvPicPr>
        <p:blipFill>
          <a:blip r:embed="rId1"/>
          <a:stretch>
            <a:fillRect/>
          </a:stretch>
        </p:blipFill>
        <p:spPr>
          <a:xfrm>
            <a:off x="837590" y="746150"/>
            <a:ext cx="427939" cy="4279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Treatment timing decides ROP outcomes</a:t>
            </a:r>
            <a:endParaRPr lang="en-US" sz="3000" dirty="0"/>
          </a:p>
        </p:txBody>
      </p:sp>
      <p:sp>
        <p:nvSpPr>
          <p:cNvPr id="3" name="motivation_text"/>
          <p:cNvSpPr txBox="1"/>
          <p:nvPr/>
        </p:nvSpPr>
        <p:spPr>
          <a:xfrm>
            <a:off x="548640" y="1371600"/>
            <a:ext cx="5486400" cy="3291840"/>
          </a:xfrm>
          <a:prstGeom prst="rect">
            <a:avLst/>
          </a:prstGeom>
          <a:noFill/>
          <a:ln/>
        </p:spPr>
        <p:txBody>
          <a:bodyPr wrap="square" rtlCol="0" anchor="t"/>
          <a:lstStyle/>
          <a:p>
            <a:pPr indent="0" marL="0">
              <a:spcAft>
                <a:spcPts val="1200"/>
              </a:spcAft>
              <a:buNone/>
            </a:pPr>
            <a:r>
              <a:rPr lang="en-US" sz="1600" dirty="0">
                <a:solidFill>
                  <a:schemeClr val="tx1"/>
                </a:solidFill>
              </a:rPr>
              <a:t>Once an infant crosses the ICROP treatment threshold, every hour of delay matters.</a:t>
            </a:r>
            <a:endParaRPr lang="en-US" sz="1600" dirty="0"/>
          </a:p>
          <a:p>
            <a:pPr indent="0" marL="0">
              <a:spcAft>
                <a:spcPts val="1200"/>
              </a:spcAft>
              <a:buNone/>
            </a:pPr>
            <a:r>
              <a:rPr lang="en-US" sz="1600" dirty="0">
                <a:solidFill>
                  <a:schemeClr val="tx1"/>
                </a:solidFill>
              </a:rPr>
              <a:t>Incubator sensors and retinal cameras generate data continuously, but a 250 kb/s link shared by many incubators cannot move every image at once.</a:t>
            </a:r>
            <a:endParaRPr lang="en-US" sz="1600" dirty="0"/>
          </a:p>
          <a:p>
            <a:pPr indent="0" marL="0">
              <a:spcAft>
                <a:spcPts val="1200"/>
              </a:spcAft>
              <a:buNone/>
            </a:pPr>
            <a:r>
              <a:rPr lang="en-US" sz="1600" dirty="0">
                <a:solidFill>
                  <a:schemeClr val="tx1"/>
                </a:solidFill>
              </a:rPr>
              <a:t>The scheduler must decide whose image goes first, where it is analyzed, and how much bandwidth it receives.</a:t>
            </a:r>
            <a:endParaRPr lang="en-US" sz="1600" dirty="0"/>
          </a:p>
        </p:txBody>
      </p:sp>
      <p:sp>
        <p:nvSpPr>
          <p:cNvPr id="4" name="stat_card_0"/>
          <p:cNvSpPr/>
          <p:nvPr/>
        </p:nvSpPr>
        <p:spPr>
          <a:xfrm>
            <a:off x="6492240" y="1371600"/>
            <a:ext cx="2377440" cy="2103120"/>
          </a:xfrm>
          <a:prstGeom prst="roundRect">
            <a:avLst>
              <a:gd name="adj" fmla="val 5217"/>
            </a:avLst>
          </a:prstGeom>
          <a:solidFill>
            <a:schemeClr val="bg2"/>
          </a:solidFill>
          <a:ln w="12700">
            <a:solidFill>
              <a:schemeClr val="bg2"/>
            </a:solidFill>
            <a:prstDash val="solid"/>
          </a:ln>
        </p:spPr>
      </p:sp>
      <p:sp>
        <p:nvSpPr>
          <p:cNvPr id="5" name="stat_value_0"/>
          <p:cNvSpPr txBox="1"/>
          <p:nvPr/>
        </p:nvSpPr>
        <p:spPr>
          <a:xfrm>
            <a:off x="6675120" y="1600200"/>
            <a:ext cx="2011680" cy="91440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188</a:t>
            </a:r>
            <a:endParaRPr lang="en-US" sz="4400" dirty="0"/>
          </a:p>
        </p:txBody>
      </p:sp>
      <p:sp>
        <p:nvSpPr>
          <p:cNvPr id="6" name="stat_label_0"/>
          <p:cNvSpPr txBox="1"/>
          <p:nvPr/>
        </p:nvSpPr>
        <p:spPr>
          <a:xfrm>
            <a:off x="6675120" y="2560320"/>
            <a:ext cx="2011680" cy="731520"/>
          </a:xfrm>
          <a:prstGeom prst="rect">
            <a:avLst/>
          </a:prstGeom>
          <a:noFill/>
          <a:ln/>
        </p:spPr>
        <p:txBody>
          <a:bodyPr wrap="square" lIns="0" tIns="0" rIns="0" bIns="0" rtlCol="0" anchor="t"/>
          <a:lstStyle/>
          <a:p>
            <a:pPr indent="0" marL="0">
              <a:buNone/>
            </a:pPr>
            <a:r>
              <a:rPr lang="en-US" sz="1300" dirty="0">
                <a:solidFill>
                  <a:schemeClr val="tx1"/>
                </a:solidFill>
              </a:rPr>
              <a:t>infants in the public Ostrava cohort</a:t>
            </a:r>
            <a:endParaRPr lang="en-US" sz="1300" dirty="0"/>
          </a:p>
        </p:txBody>
      </p:sp>
      <p:sp>
        <p:nvSpPr>
          <p:cNvPr id="7" name="stat_card_1"/>
          <p:cNvSpPr/>
          <p:nvPr/>
        </p:nvSpPr>
        <p:spPr>
          <a:xfrm>
            <a:off x="9098280" y="1371600"/>
            <a:ext cx="2377440" cy="2103120"/>
          </a:xfrm>
          <a:prstGeom prst="roundRect">
            <a:avLst>
              <a:gd name="adj" fmla="val 5217"/>
            </a:avLst>
          </a:prstGeom>
          <a:solidFill>
            <a:schemeClr val="bg2"/>
          </a:solidFill>
          <a:ln w="12700">
            <a:solidFill>
              <a:schemeClr val="bg2"/>
            </a:solidFill>
            <a:prstDash val="solid"/>
          </a:ln>
        </p:spPr>
      </p:sp>
      <p:sp>
        <p:nvSpPr>
          <p:cNvPr id="8" name="stat_value_1"/>
          <p:cNvSpPr txBox="1"/>
          <p:nvPr/>
        </p:nvSpPr>
        <p:spPr>
          <a:xfrm>
            <a:off x="9281160" y="1600200"/>
            <a:ext cx="2011680" cy="91440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484</a:t>
            </a:r>
            <a:endParaRPr lang="en-US" sz="4400" dirty="0"/>
          </a:p>
        </p:txBody>
      </p:sp>
      <p:sp>
        <p:nvSpPr>
          <p:cNvPr id="9" name="stat_label_1"/>
          <p:cNvSpPr txBox="1"/>
          <p:nvPr/>
        </p:nvSpPr>
        <p:spPr>
          <a:xfrm>
            <a:off x="9281160" y="2560320"/>
            <a:ext cx="2011680" cy="731520"/>
          </a:xfrm>
          <a:prstGeom prst="rect">
            <a:avLst/>
          </a:prstGeom>
          <a:noFill/>
          <a:ln/>
        </p:spPr>
        <p:txBody>
          <a:bodyPr wrap="square" lIns="0" tIns="0" rIns="0" bIns="0" rtlCol="0" anchor="t"/>
          <a:lstStyle/>
          <a:p>
            <a:pPr indent="0" marL="0">
              <a:buNone/>
            </a:pPr>
            <a:r>
              <a:rPr lang="en-US" sz="1300" dirty="0">
                <a:solidFill>
                  <a:schemeClr val="tx1"/>
                </a:solidFill>
              </a:rPr>
              <a:t>screening series with ICROP diagnoses</a:t>
            </a:r>
            <a:endParaRPr lang="en-US" sz="1300" dirty="0"/>
          </a:p>
        </p:txBody>
      </p:sp>
      <p:sp>
        <p:nvSpPr>
          <p:cNvPr id="10" name="stat_card_2"/>
          <p:cNvSpPr/>
          <p:nvPr/>
        </p:nvSpPr>
        <p:spPr>
          <a:xfrm>
            <a:off x="6492240" y="3703320"/>
            <a:ext cx="2377440" cy="2103120"/>
          </a:xfrm>
          <a:prstGeom prst="roundRect">
            <a:avLst>
              <a:gd name="adj" fmla="val 5217"/>
            </a:avLst>
          </a:prstGeom>
          <a:solidFill>
            <a:schemeClr val="bg2"/>
          </a:solidFill>
          <a:ln w="12700">
            <a:solidFill>
              <a:schemeClr val="bg2"/>
            </a:solidFill>
            <a:prstDash val="solid"/>
          </a:ln>
        </p:spPr>
      </p:sp>
      <p:sp>
        <p:nvSpPr>
          <p:cNvPr id="11" name="stat_value_2"/>
          <p:cNvSpPr txBox="1"/>
          <p:nvPr/>
        </p:nvSpPr>
        <p:spPr>
          <a:xfrm>
            <a:off x="6675120" y="3931920"/>
            <a:ext cx="2011680" cy="91440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20</a:t>
            </a:r>
            <a:endParaRPr lang="en-US" sz="4400" dirty="0"/>
          </a:p>
        </p:txBody>
      </p:sp>
      <p:sp>
        <p:nvSpPr>
          <p:cNvPr id="12" name="stat_label_2"/>
          <p:cNvSpPr txBox="1"/>
          <p:nvPr/>
        </p:nvSpPr>
        <p:spPr>
          <a:xfrm>
            <a:off x="6675120" y="4892040"/>
            <a:ext cx="2011680" cy="731520"/>
          </a:xfrm>
          <a:prstGeom prst="rect">
            <a:avLst/>
          </a:prstGeom>
          <a:noFill/>
          <a:ln/>
        </p:spPr>
        <p:txBody>
          <a:bodyPr wrap="square" lIns="0" tIns="0" rIns="0" bIns="0" rtlCol="0" anchor="t"/>
          <a:lstStyle/>
          <a:p>
            <a:pPr indent="0" marL="0">
              <a:buNone/>
            </a:pPr>
            <a:r>
              <a:rPr lang="en-US" sz="1300" dirty="0">
                <a:solidFill>
                  <a:schemeClr val="tx1"/>
                </a:solidFill>
              </a:rPr>
              <a:t>incubator nodes on 3 gateways</a:t>
            </a:r>
            <a:endParaRPr lang="en-US" sz="1300" dirty="0"/>
          </a:p>
        </p:txBody>
      </p:sp>
      <p:sp>
        <p:nvSpPr>
          <p:cNvPr id="13" name="stat_card_3"/>
          <p:cNvSpPr/>
          <p:nvPr/>
        </p:nvSpPr>
        <p:spPr>
          <a:xfrm>
            <a:off x="9098280" y="3703320"/>
            <a:ext cx="2377440" cy="2103120"/>
          </a:xfrm>
          <a:prstGeom prst="roundRect">
            <a:avLst>
              <a:gd name="adj" fmla="val 5217"/>
            </a:avLst>
          </a:prstGeom>
          <a:solidFill>
            <a:schemeClr val="bg2"/>
          </a:solidFill>
          <a:ln w="12700">
            <a:solidFill>
              <a:schemeClr val="bg2"/>
            </a:solidFill>
            <a:prstDash val="solid"/>
          </a:ln>
        </p:spPr>
      </p:sp>
      <p:sp>
        <p:nvSpPr>
          <p:cNvPr id="14" name="stat_value_3"/>
          <p:cNvSpPr txBox="1"/>
          <p:nvPr/>
        </p:nvSpPr>
        <p:spPr>
          <a:xfrm>
            <a:off x="9281160" y="3931920"/>
            <a:ext cx="2011680" cy="91440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180 s</a:t>
            </a:r>
            <a:endParaRPr lang="en-US" sz="4400" dirty="0"/>
          </a:p>
        </p:txBody>
      </p:sp>
      <p:sp>
        <p:nvSpPr>
          <p:cNvPr id="15" name="stat_label_3"/>
          <p:cNvSpPr txBox="1"/>
          <p:nvPr/>
        </p:nvSpPr>
        <p:spPr>
          <a:xfrm>
            <a:off x="9281160" y="4892040"/>
            <a:ext cx="2011680" cy="731520"/>
          </a:xfrm>
          <a:prstGeom prst="rect">
            <a:avLst/>
          </a:prstGeom>
          <a:noFill/>
          <a:ln/>
        </p:spPr>
        <p:txBody>
          <a:bodyPr wrap="square" lIns="0" tIns="0" rIns="0" bIns="0" rtlCol="0" anchor="t"/>
          <a:lstStyle/>
          <a:p>
            <a:pPr indent="0" marL="0">
              <a:buNone/>
            </a:pPr>
            <a:r>
              <a:rPr lang="en-US" sz="1300" dirty="0">
                <a:solidFill>
                  <a:schemeClr val="tx1"/>
                </a:solidFill>
              </a:rPr>
              <a:t>triage deadline per image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Four coupled challenges block threshold-aware orchestration</a:t>
            </a:r>
            <a:endParaRPr lang="en-US" sz="3000" dirty="0"/>
          </a:p>
        </p:txBody>
      </p:sp>
      <p:sp>
        <p:nvSpPr>
          <p:cNvPr id="3" name="challenge_card_0"/>
          <p:cNvSpPr/>
          <p:nvPr/>
        </p:nvSpPr>
        <p:spPr>
          <a:xfrm>
            <a:off x="548640" y="1325880"/>
            <a:ext cx="5394960" cy="2240280"/>
          </a:xfrm>
          <a:prstGeom prst="roundRect">
            <a:avLst>
              <a:gd name="adj" fmla="val 4898"/>
            </a:avLst>
          </a:prstGeom>
          <a:solidFill>
            <a:schemeClr val="bg2"/>
          </a:solidFill>
          <a:ln w="12700">
            <a:solidFill>
              <a:schemeClr val="bg2"/>
            </a:solidFill>
            <a:prstDash val="solid"/>
          </a:ln>
        </p:spPr>
      </p:sp>
      <p:sp>
        <p:nvSpPr>
          <p:cNvPr id="4" name="challenge_0_circle"/>
          <p:cNvSpPr/>
          <p:nvPr/>
        </p:nvSpPr>
        <p:spPr>
          <a:xfrm>
            <a:off x="822960" y="1645920"/>
            <a:ext cx="777240" cy="777240"/>
          </a:xfrm>
          <a:prstGeom prst="ellipse">
            <a:avLst/>
          </a:prstGeom>
          <a:solidFill>
            <a:schemeClr val="accent2"/>
          </a:solidFill>
          <a:ln w="12700">
            <a:solidFill>
              <a:schemeClr val="accent2"/>
            </a:solidFill>
            <a:prstDash val="solid"/>
          </a:ln>
        </p:spPr>
      </p:sp>
      <p:pic>
        <p:nvPicPr>
          <p:cNvPr id="5" name="challenge_0_icon" descr="challenge_0">    </p:cNvPr>
          <p:cNvPicPr>
            <a:picLocks noChangeAspect="1"/>
          </p:cNvPicPr>
          <p:nvPr/>
        </p:nvPicPr>
        <p:blipFill>
          <a:blip r:embed="rId1"/>
          <a:stretch>
            <a:fillRect/>
          </a:stretch>
        </p:blipFill>
        <p:spPr>
          <a:xfrm>
            <a:off x="1009498" y="1832458"/>
            <a:ext cx="404165" cy="404165"/>
          </a:xfrm>
          <a:prstGeom prst="rect">
            <a:avLst/>
          </a:prstGeom>
        </p:spPr>
      </p:pic>
      <p:sp>
        <p:nvSpPr>
          <p:cNvPr id="6" name="challenge_title_0"/>
          <p:cNvSpPr txBox="1"/>
          <p:nvPr/>
        </p:nvSpPr>
        <p:spPr>
          <a:xfrm>
            <a:off x="1828800" y="1600200"/>
            <a:ext cx="3931920" cy="457200"/>
          </a:xfrm>
          <a:prstGeom prst="rect">
            <a:avLst/>
          </a:prstGeom>
          <a:noFill/>
          <a:ln/>
        </p:spPr>
        <p:txBody>
          <a:bodyPr wrap="square" lIns="0" tIns="0" rIns="0" bIns="0" rtlCol="0" anchor="ctr"/>
          <a:lstStyle/>
          <a:p>
            <a:pPr indent="0" marL="0">
              <a:buNone/>
            </a:pPr>
            <a:r>
              <a:rPr lang="en-US" sz="2000" b="1" dirty="0">
                <a:solidFill>
                  <a:schemeClr val="tx2"/>
                </a:solidFill>
              </a:rPr>
              <a:t>C1  Confounded priorities</a:t>
            </a:r>
            <a:endParaRPr lang="en-US" sz="2000" dirty="0"/>
          </a:p>
        </p:txBody>
      </p:sp>
      <p:sp>
        <p:nvSpPr>
          <p:cNvPr id="7" name="challenge_text_0"/>
          <p:cNvSpPr txBox="1"/>
          <p:nvPr/>
        </p:nvSpPr>
        <p:spPr>
          <a:xfrm>
            <a:off x="1828800" y="2148840"/>
            <a:ext cx="3931920" cy="1234440"/>
          </a:xfrm>
          <a:prstGeom prst="rect">
            <a:avLst/>
          </a:prstGeom>
          <a:noFill/>
          <a:ln/>
        </p:spPr>
        <p:txBody>
          <a:bodyPr wrap="square" lIns="0" tIns="0" rIns="0" bIns="0" rtlCol="0" anchor="t"/>
          <a:lstStyle/>
          <a:p>
            <a:pPr indent="0" marL="0">
              <a:buNone/>
            </a:pPr>
            <a:r>
              <a:rPr lang="en-US" sz="1500" dirty="0">
                <a:solidFill>
                  <a:schemeClr val="tx1"/>
                </a:solidFill>
              </a:rPr>
              <a:t>Oxygen exposure drives both treatment and spontaneous regression, so association-based priorities misrank infants.</a:t>
            </a:r>
            <a:endParaRPr lang="en-US" sz="1500" dirty="0"/>
          </a:p>
        </p:txBody>
      </p:sp>
      <p:sp>
        <p:nvSpPr>
          <p:cNvPr id="8" name="challenge_card_1"/>
          <p:cNvSpPr/>
          <p:nvPr/>
        </p:nvSpPr>
        <p:spPr>
          <a:xfrm>
            <a:off x="6172200" y="1325880"/>
            <a:ext cx="5394960" cy="2240280"/>
          </a:xfrm>
          <a:prstGeom prst="roundRect">
            <a:avLst>
              <a:gd name="adj" fmla="val 4898"/>
            </a:avLst>
          </a:prstGeom>
          <a:solidFill>
            <a:schemeClr val="bg2"/>
          </a:solidFill>
          <a:ln w="12700">
            <a:solidFill>
              <a:schemeClr val="bg2"/>
            </a:solidFill>
            <a:prstDash val="solid"/>
          </a:ln>
        </p:spPr>
      </p:sp>
      <p:sp>
        <p:nvSpPr>
          <p:cNvPr id="9" name="challenge_1_circle"/>
          <p:cNvSpPr/>
          <p:nvPr/>
        </p:nvSpPr>
        <p:spPr>
          <a:xfrm>
            <a:off x="6446520" y="1645920"/>
            <a:ext cx="777240" cy="777240"/>
          </a:xfrm>
          <a:prstGeom prst="ellipse">
            <a:avLst/>
          </a:prstGeom>
          <a:solidFill>
            <a:schemeClr val="accent1"/>
          </a:solidFill>
          <a:ln w="12700">
            <a:solidFill>
              <a:schemeClr val="accent1"/>
            </a:solidFill>
            <a:prstDash val="solid"/>
          </a:ln>
        </p:spPr>
      </p:sp>
      <p:pic>
        <p:nvPicPr>
          <p:cNvPr id="10" name="challenge_1_icon" descr="challenge_1">    </p:cNvPr>
          <p:cNvPicPr>
            <a:picLocks noChangeAspect="1"/>
          </p:cNvPicPr>
          <p:nvPr/>
        </p:nvPicPr>
        <p:blipFill>
          <a:blip r:embed="rId2"/>
          <a:stretch>
            <a:fillRect/>
          </a:stretch>
        </p:blipFill>
        <p:spPr>
          <a:xfrm>
            <a:off x="6633058" y="1832458"/>
            <a:ext cx="404165" cy="404165"/>
          </a:xfrm>
          <a:prstGeom prst="rect">
            <a:avLst/>
          </a:prstGeom>
        </p:spPr>
      </p:pic>
      <p:sp>
        <p:nvSpPr>
          <p:cNvPr id="11" name="challenge_title_1"/>
          <p:cNvSpPr txBox="1"/>
          <p:nvPr/>
        </p:nvSpPr>
        <p:spPr>
          <a:xfrm>
            <a:off x="7452360" y="1600200"/>
            <a:ext cx="3931920" cy="457200"/>
          </a:xfrm>
          <a:prstGeom prst="rect">
            <a:avLst/>
          </a:prstGeom>
          <a:noFill/>
          <a:ln/>
        </p:spPr>
        <p:txBody>
          <a:bodyPr wrap="square" lIns="0" tIns="0" rIns="0" bIns="0" rtlCol="0" anchor="ctr"/>
          <a:lstStyle/>
          <a:p>
            <a:pPr indent="0" marL="0">
              <a:buNone/>
            </a:pPr>
            <a:r>
              <a:rPr lang="en-US" sz="2000" b="1" dirty="0">
                <a:solidFill>
                  <a:schemeClr val="tx2"/>
                </a:solidFill>
              </a:rPr>
              <a:t>C2  Low-rate wireless links</a:t>
            </a:r>
            <a:endParaRPr lang="en-US" sz="2000" dirty="0"/>
          </a:p>
        </p:txBody>
      </p:sp>
      <p:sp>
        <p:nvSpPr>
          <p:cNvPr id="12" name="challenge_text_1"/>
          <p:cNvSpPr txBox="1"/>
          <p:nvPr/>
        </p:nvSpPr>
        <p:spPr>
          <a:xfrm>
            <a:off x="7452360" y="2148840"/>
            <a:ext cx="3931920" cy="1234440"/>
          </a:xfrm>
          <a:prstGeom prst="rect">
            <a:avLst/>
          </a:prstGeom>
          <a:noFill/>
          <a:ln/>
        </p:spPr>
        <p:txBody>
          <a:bodyPr wrap="square" lIns="0" tIns="0" rIns="0" bIns="0" rtlCol="0" anchor="t"/>
          <a:lstStyle/>
          <a:p>
            <a:pPr indent="0" marL="0">
              <a:buNone/>
            </a:pPr>
            <a:r>
              <a:rPr lang="en-US" sz="1500" dirty="0">
                <a:solidFill>
                  <a:schemeClr val="tx1"/>
                </a:solidFill>
              </a:rPr>
              <a:t>Images of 200 to 600 kB cross an 802.15.4 link with fading, shadowing, and interference bursts.</a:t>
            </a:r>
            <a:endParaRPr lang="en-US" sz="1500" dirty="0"/>
          </a:p>
        </p:txBody>
      </p:sp>
      <p:sp>
        <p:nvSpPr>
          <p:cNvPr id="13" name="challenge_card_2"/>
          <p:cNvSpPr/>
          <p:nvPr/>
        </p:nvSpPr>
        <p:spPr>
          <a:xfrm>
            <a:off x="548640" y="3794760"/>
            <a:ext cx="5394960" cy="2240280"/>
          </a:xfrm>
          <a:prstGeom prst="roundRect">
            <a:avLst>
              <a:gd name="adj" fmla="val 4898"/>
            </a:avLst>
          </a:prstGeom>
          <a:solidFill>
            <a:schemeClr val="bg2"/>
          </a:solidFill>
          <a:ln w="12700">
            <a:solidFill>
              <a:schemeClr val="bg2"/>
            </a:solidFill>
            <a:prstDash val="solid"/>
          </a:ln>
        </p:spPr>
      </p:sp>
      <p:sp>
        <p:nvSpPr>
          <p:cNvPr id="14" name="challenge_2_circle"/>
          <p:cNvSpPr/>
          <p:nvPr/>
        </p:nvSpPr>
        <p:spPr>
          <a:xfrm>
            <a:off x="822960" y="4114800"/>
            <a:ext cx="777240" cy="777240"/>
          </a:xfrm>
          <a:prstGeom prst="ellipse">
            <a:avLst/>
          </a:prstGeom>
          <a:solidFill>
            <a:schemeClr val="accent3"/>
          </a:solidFill>
          <a:ln w="12700">
            <a:solidFill>
              <a:schemeClr val="accent3"/>
            </a:solidFill>
            <a:prstDash val="solid"/>
          </a:ln>
        </p:spPr>
      </p:sp>
      <p:pic>
        <p:nvPicPr>
          <p:cNvPr id="15" name="challenge_2_icon" descr="challenge_2">    </p:cNvPr>
          <p:cNvPicPr>
            <a:picLocks noChangeAspect="1"/>
          </p:cNvPicPr>
          <p:nvPr/>
        </p:nvPicPr>
        <p:blipFill>
          <a:blip r:embed="rId3"/>
          <a:stretch>
            <a:fillRect/>
          </a:stretch>
        </p:blipFill>
        <p:spPr>
          <a:xfrm>
            <a:off x="1009498" y="4301338"/>
            <a:ext cx="404165" cy="404165"/>
          </a:xfrm>
          <a:prstGeom prst="rect">
            <a:avLst/>
          </a:prstGeom>
        </p:spPr>
      </p:pic>
      <p:sp>
        <p:nvSpPr>
          <p:cNvPr id="16" name="challenge_title_2"/>
          <p:cNvSpPr txBox="1"/>
          <p:nvPr/>
        </p:nvSpPr>
        <p:spPr>
          <a:xfrm>
            <a:off x="1828800" y="4069080"/>
            <a:ext cx="3931920" cy="457200"/>
          </a:xfrm>
          <a:prstGeom prst="rect">
            <a:avLst/>
          </a:prstGeom>
          <a:noFill/>
          <a:ln/>
        </p:spPr>
        <p:txBody>
          <a:bodyPr wrap="square" lIns="0" tIns="0" rIns="0" bIns="0" rtlCol="0" anchor="ctr"/>
          <a:lstStyle/>
          <a:p>
            <a:pPr indent="0" marL="0">
              <a:buNone/>
            </a:pPr>
            <a:r>
              <a:rPr lang="en-US" sz="2000" b="1" dirty="0">
                <a:solidFill>
                  <a:schemeClr val="tx2"/>
                </a:solidFill>
              </a:rPr>
              <a:t>C3  Battery coupling</a:t>
            </a:r>
            <a:endParaRPr lang="en-US" sz="2000" dirty="0"/>
          </a:p>
        </p:txBody>
      </p:sp>
      <p:sp>
        <p:nvSpPr>
          <p:cNvPr id="17" name="challenge_text_2"/>
          <p:cNvSpPr txBox="1"/>
          <p:nvPr/>
        </p:nvSpPr>
        <p:spPr>
          <a:xfrm>
            <a:off x="1828800" y="4617720"/>
            <a:ext cx="3931920" cy="1234440"/>
          </a:xfrm>
          <a:prstGeom prst="rect">
            <a:avLst/>
          </a:prstGeom>
          <a:noFill/>
          <a:ln/>
        </p:spPr>
        <p:txBody>
          <a:bodyPr wrap="square" lIns="0" tIns="0" rIns="0" bIns="0" rtlCol="0" anchor="t"/>
          <a:lstStyle/>
          <a:p>
            <a:pPr indent="0" marL="0">
              <a:buNone/>
            </a:pPr>
            <a:r>
              <a:rPr lang="en-US" sz="1500" dirty="0">
                <a:solidFill>
                  <a:schemeClr val="tx1"/>
                </a:solidFill>
              </a:rPr>
              <a:t>Capture, transmission, and local inference drain incubator nodes, linking decisions across rounds.</a:t>
            </a:r>
            <a:endParaRPr lang="en-US" sz="1500" dirty="0"/>
          </a:p>
        </p:txBody>
      </p:sp>
      <p:sp>
        <p:nvSpPr>
          <p:cNvPr id="18" name="challenge_card_3"/>
          <p:cNvSpPr/>
          <p:nvPr/>
        </p:nvSpPr>
        <p:spPr>
          <a:xfrm>
            <a:off x="6172200" y="3794760"/>
            <a:ext cx="5394960" cy="2240280"/>
          </a:xfrm>
          <a:prstGeom prst="roundRect">
            <a:avLst>
              <a:gd name="adj" fmla="val 4898"/>
            </a:avLst>
          </a:prstGeom>
          <a:solidFill>
            <a:schemeClr val="bg2"/>
          </a:solidFill>
          <a:ln w="12700">
            <a:solidFill>
              <a:schemeClr val="bg2"/>
            </a:solidFill>
            <a:prstDash val="solid"/>
          </a:ln>
        </p:spPr>
      </p:sp>
      <p:sp>
        <p:nvSpPr>
          <p:cNvPr id="19" name="challenge_3_circle"/>
          <p:cNvSpPr/>
          <p:nvPr/>
        </p:nvSpPr>
        <p:spPr>
          <a:xfrm>
            <a:off x="6446520" y="4114800"/>
            <a:ext cx="777240" cy="777240"/>
          </a:xfrm>
          <a:prstGeom prst="ellipse">
            <a:avLst/>
          </a:prstGeom>
          <a:solidFill>
            <a:schemeClr val="accent6"/>
          </a:solidFill>
          <a:ln w="12700">
            <a:solidFill>
              <a:schemeClr val="accent6"/>
            </a:solidFill>
            <a:prstDash val="solid"/>
          </a:ln>
        </p:spPr>
      </p:sp>
      <p:pic>
        <p:nvPicPr>
          <p:cNvPr id="20" name="challenge_3_icon" descr="challenge_3">    </p:cNvPr>
          <p:cNvPicPr>
            <a:picLocks noChangeAspect="1"/>
          </p:cNvPicPr>
          <p:nvPr/>
        </p:nvPicPr>
        <p:blipFill>
          <a:blip r:embed="rId4"/>
          <a:stretch>
            <a:fillRect/>
          </a:stretch>
        </p:blipFill>
        <p:spPr>
          <a:xfrm>
            <a:off x="6633058" y="4301338"/>
            <a:ext cx="404165" cy="404165"/>
          </a:xfrm>
          <a:prstGeom prst="rect">
            <a:avLst/>
          </a:prstGeom>
        </p:spPr>
      </p:pic>
      <p:sp>
        <p:nvSpPr>
          <p:cNvPr id="21" name="challenge_title_3"/>
          <p:cNvSpPr txBox="1"/>
          <p:nvPr/>
        </p:nvSpPr>
        <p:spPr>
          <a:xfrm>
            <a:off x="7452360" y="4069080"/>
            <a:ext cx="3931920" cy="457200"/>
          </a:xfrm>
          <a:prstGeom prst="rect">
            <a:avLst/>
          </a:prstGeom>
          <a:noFill/>
          <a:ln/>
        </p:spPr>
        <p:txBody>
          <a:bodyPr wrap="square" lIns="0" tIns="0" rIns="0" bIns="0" rtlCol="0" anchor="ctr"/>
          <a:lstStyle/>
          <a:p>
            <a:pPr indent="0" marL="0">
              <a:buNone/>
            </a:pPr>
            <a:r>
              <a:rPr lang="en-US" sz="2000" b="1" dirty="0">
                <a:solidFill>
                  <a:schemeClr val="tx2"/>
                </a:solidFill>
              </a:rPr>
              <a:t>C4  No clinical guarantee</a:t>
            </a:r>
            <a:endParaRPr lang="en-US" sz="2000" dirty="0"/>
          </a:p>
        </p:txBody>
      </p:sp>
      <p:sp>
        <p:nvSpPr>
          <p:cNvPr id="22" name="challenge_text_3"/>
          <p:cNvSpPr txBox="1"/>
          <p:nvPr/>
        </p:nvSpPr>
        <p:spPr>
          <a:xfrm>
            <a:off x="7452360" y="4617720"/>
            <a:ext cx="3931920" cy="1234440"/>
          </a:xfrm>
          <a:prstGeom prst="rect">
            <a:avLst/>
          </a:prstGeom>
          <a:noFill/>
          <a:ln/>
        </p:spPr>
        <p:txBody>
          <a:bodyPr wrap="square" lIns="0" tIns="0" rIns="0" bIns="0" rtlCol="0" anchor="t"/>
          <a:lstStyle/>
          <a:p>
            <a:pPr indent="0" marL="0">
              <a:buNone/>
            </a:pPr>
            <a:r>
              <a:rPr lang="en-US" sz="1500" dirty="0">
                <a:solidFill>
                  <a:schemeClr val="tx1"/>
                </a:solidFill>
              </a:rPr>
              <a:t>Learning orchestrators optimize generic rewards and can starve a high-risk infant during exploration.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Contributions</a:t>
            </a:r>
            <a:endParaRPr lang="en-US" sz="3000" dirty="0"/>
          </a:p>
        </p:txBody>
      </p:sp>
      <p:sp>
        <p:nvSpPr>
          <p:cNvPr id="3" name="contrib_0_circle"/>
          <p:cNvSpPr/>
          <p:nvPr/>
        </p:nvSpPr>
        <p:spPr>
          <a:xfrm>
            <a:off x="640080" y="1417320"/>
            <a:ext cx="731520" cy="731520"/>
          </a:xfrm>
          <a:prstGeom prst="ellipse">
            <a:avLst/>
          </a:prstGeom>
          <a:solidFill>
            <a:schemeClr val="accent1"/>
          </a:solidFill>
          <a:ln w="12700">
            <a:solidFill>
              <a:schemeClr val="accent1"/>
            </a:solidFill>
            <a:prstDash val="solid"/>
          </a:ln>
        </p:spPr>
      </p:sp>
      <p:pic>
        <p:nvPicPr>
          <p:cNvPr id="4" name="contrib_0_icon" descr="contrib_0">    </p:cNvPr>
          <p:cNvPicPr>
            <a:picLocks noChangeAspect="1"/>
          </p:cNvPicPr>
          <p:nvPr/>
        </p:nvPicPr>
        <p:blipFill>
          <a:blip r:embed="rId1"/>
          <a:stretch>
            <a:fillRect/>
          </a:stretch>
        </p:blipFill>
        <p:spPr>
          <a:xfrm>
            <a:off x="815645" y="1592885"/>
            <a:ext cx="380390" cy="380390"/>
          </a:xfrm>
          <a:prstGeom prst="rect">
            <a:avLst/>
          </a:prstGeom>
        </p:spPr>
      </p:pic>
      <p:sp>
        <p:nvSpPr>
          <p:cNvPr id="5" name="contrib_title_0"/>
          <p:cNvSpPr txBox="1"/>
          <p:nvPr/>
        </p:nvSpPr>
        <p:spPr>
          <a:xfrm>
            <a:off x="1600200" y="1325880"/>
            <a:ext cx="9875520" cy="411480"/>
          </a:xfrm>
          <a:prstGeom prst="rect">
            <a:avLst/>
          </a:prstGeom>
          <a:noFill/>
          <a:ln/>
        </p:spPr>
        <p:txBody>
          <a:bodyPr wrap="square" lIns="0" tIns="0" rIns="0" bIns="0" rtlCol="0" anchor="ctr"/>
          <a:lstStyle/>
          <a:p>
            <a:pPr indent="0" marL="0">
              <a:buNone/>
            </a:pPr>
            <a:r>
              <a:rPr lang="en-US" sz="1900" b="1" dirty="0">
                <a:solidFill>
                  <a:schemeClr val="tx2"/>
                </a:solidFill>
              </a:rPr>
              <a:t>System model and problem</a:t>
            </a:r>
            <a:endParaRPr lang="en-US" sz="1900" dirty="0"/>
          </a:p>
        </p:txBody>
      </p:sp>
      <p:sp>
        <p:nvSpPr>
          <p:cNvPr id="6" name="contrib_text_0"/>
          <p:cNvSpPr txBox="1"/>
          <p:nvPr/>
        </p:nvSpPr>
        <p:spPr>
          <a:xfrm>
            <a:off x="1600200" y="1755648"/>
            <a:ext cx="9875520" cy="640080"/>
          </a:xfrm>
          <a:prstGeom prst="rect">
            <a:avLst/>
          </a:prstGeom>
          <a:noFill/>
          <a:ln/>
        </p:spPr>
        <p:txBody>
          <a:bodyPr wrap="square" lIns="0" tIns="0" rIns="0" bIns="0" rtlCol="0" anchor="t"/>
          <a:lstStyle/>
          <a:p>
            <a:pPr indent="0" marL="0">
              <a:buNone/>
            </a:pPr>
            <a:r>
              <a:rPr lang="en-US" sz="1500" dirty="0">
                <a:solidFill>
                  <a:schemeClr val="tx1"/>
                </a:solidFill>
              </a:rPr>
              <a:t>20-node NICU network with O-QPSK packet errors, shadowing, interference, three compute tiers, and batteries; joint control proven NP-hard.</a:t>
            </a:r>
            <a:endParaRPr lang="en-US" sz="1500" dirty="0"/>
          </a:p>
        </p:txBody>
      </p:sp>
      <p:sp>
        <p:nvSpPr>
          <p:cNvPr id="7" name="contrib_1_circle"/>
          <p:cNvSpPr/>
          <p:nvPr/>
        </p:nvSpPr>
        <p:spPr>
          <a:xfrm>
            <a:off x="640080" y="2633472"/>
            <a:ext cx="731520" cy="731520"/>
          </a:xfrm>
          <a:prstGeom prst="ellipse">
            <a:avLst/>
          </a:prstGeom>
          <a:solidFill>
            <a:schemeClr val="accent3"/>
          </a:solidFill>
          <a:ln w="12700">
            <a:solidFill>
              <a:schemeClr val="accent3"/>
            </a:solidFill>
            <a:prstDash val="solid"/>
          </a:ln>
        </p:spPr>
      </p:sp>
      <p:pic>
        <p:nvPicPr>
          <p:cNvPr id="8" name="contrib_1_icon" descr="contrib_1">    </p:cNvPr>
          <p:cNvPicPr>
            <a:picLocks noChangeAspect="1"/>
          </p:cNvPicPr>
          <p:nvPr/>
        </p:nvPicPr>
        <p:blipFill>
          <a:blip r:embed="rId2"/>
          <a:stretch>
            <a:fillRect/>
          </a:stretch>
        </p:blipFill>
        <p:spPr>
          <a:xfrm>
            <a:off x="815645" y="2809037"/>
            <a:ext cx="380390" cy="380390"/>
          </a:xfrm>
          <a:prstGeom prst="rect">
            <a:avLst/>
          </a:prstGeom>
        </p:spPr>
      </p:pic>
      <p:sp>
        <p:nvSpPr>
          <p:cNvPr id="9" name="contrib_title_1"/>
          <p:cNvSpPr txBox="1"/>
          <p:nvPr/>
        </p:nvSpPr>
        <p:spPr>
          <a:xfrm>
            <a:off x="1600200" y="2542032"/>
            <a:ext cx="9875520" cy="411480"/>
          </a:xfrm>
          <a:prstGeom prst="rect">
            <a:avLst/>
          </a:prstGeom>
          <a:noFill/>
          <a:ln/>
        </p:spPr>
        <p:txBody>
          <a:bodyPr wrap="square" lIns="0" tIns="0" rIns="0" bIns="0" rtlCol="0" anchor="ctr"/>
          <a:lstStyle/>
          <a:p>
            <a:pPr indent="0" marL="0">
              <a:buNone/>
            </a:pPr>
            <a:r>
              <a:rPr lang="en-US" sz="1900" b="1" dirty="0">
                <a:solidFill>
                  <a:schemeClr val="tx2"/>
                </a:solidFill>
              </a:rPr>
              <a:t>GA-stratified causal urgency</a:t>
            </a:r>
            <a:endParaRPr lang="en-US" sz="1900" dirty="0"/>
          </a:p>
        </p:txBody>
      </p:sp>
      <p:sp>
        <p:nvSpPr>
          <p:cNvPr id="10" name="contrib_text_1"/>
          <p:cNvSpPr txBox="1"/>
          <p:nvPr/>
        </p:nvSpPr>
        <p:spPr>
          <a:xfrm>
            <a:off x="1600200" y="2971800"/>
            <a:ext cx="9875520" cy="640080"/>
          </a:xfrm>
          <a:prstGeom prst="rect">
            <a:avLst/>
          </a:prstGeom>
          <a:noFill/>
          <a:ln/>
        </p:spPr>
        <p:txBody>
          <a:bodyPr wrap="square" lIns="0" tIns="0" rIns="0" bIns="0" rtlCol="0" anchor="t"/>
          <a:lstStyle/>
          <a:p>
            <a:pPr indent="0" marL="0">
              <a:buNone/>
            </a:pPr>
            <a:r>
              <a:rPr lang="en-US" sz="1500" dirty="0">
                <a:solidFill>
                  <a:schemeClr val="tx1"/>
                </a:solidFill>
              </a:rPr>
              <a:t>Back-door set {GA, oxygen, stage} found by d-separation search; counterfactual effects mapped to a monotone urgency score.</a:t>
            </a:r>
            <a:endParaRPr lang="en-US" sz="1500" dirty="0"/>
          </a:p>
        </p:txBody>
      </p:sp>
      <p:sp>
        <p:nvSpPr>
          <p:cNvPr id="11" name="contrib_2_circle"/>
          <p:cNvSpPr/>
          <p:nvPr/>
        </p:nvSpPr>
        <p:spPr>
          <a:xfrm>
            <a:off x="640080" y="3849624"/>
            <a:ext cx="731520" cy="731520"/>
          </a:xfrm>
          <a:prstGeom prst="ellipse">
            <a:avLst/>
          </a:prstGeom>
          <a:solidFill>
            <a:schemeClr val="accent2"/>
          </a:solidFill>
          <a:ln w="12700">
            <a:solidFill>
              <a:schemeClr val="accent2"/>
            </a:solidFill>
            <a:prstDash val="solid"/>
          </a:ln>
        </p:spPr>
      </p:sp>
      <p:pic>
        <p:nvPicPr>
          <p:cNvPr id="12" name="contrib_2_icon" descr="contrib_2">    </p:cNvPr>
          <p:cNvPicPr>
            <a:picLocks noChangeAspect="1"/>
          </p:cNvPicPr>
          <p:nvPr/>
        </p:nvPicPr>
        <p:blipFill>
          <a:blip r:embed="rId3"/>
          <a:stretch>
            <a:fillRect/>
          </a:stretch>
        </p:blipFill>
        <p:spPr>
          <a:xfrm>
            <a:off x="815645" y="4025189"/>
            <a:ext cx="380390" cy="380390"/>
          </a:xfrm>
          <a:prstGeom prst="rect">
            <a:avLst/>
          </a:prstGeom>
        </p:spPr>
      </p:pic>
      <p:sp>
        <p:nvSpPr>
          <p:cNvPr id="13" name="contrib_title_2"/>
          <p:cNvSpPr txBox="1"/>
          <p:nvPr/>
        </p:nvSpPr>
        <p:spPr>
          <a:xfrm>
            <a:off x="1600200" y="3758184"/>
            <a:ext cx="9875520" cy="411480"/>
          </a:xfrm>
          <a:prstGeom prst="rect">
            <a:avLst/>
          </a:prstGeom>
          <a:noFill/>
          <a:ln/>
        </p:spPr>
        <p:txBody>
          <a:bodyPr wrap="square" lIns="0" tIns="0" rIns="0" bIns="0" rtlCol="0" anchor="ctr"/>
          <a:lstStyle/>
          <a:p>
            <a:pPr indent="0" marL="0">
              <a:buNone/>
            </a:pPr>
            <a:r>
              <a:rPr lang="en-US" sz="1900" b="1" dirty="0">
                <a:solidFill>
                  <a:schemeClr val="tx2"/>
                </a:solidFill>
              </a:rPr>
              <a:t>Masked orchestration</a:t>
            </a:r>
            <a:endParaRPr lang="en-US" sz="1900" dirty="0"/>
          </a:p>
        </p:txBody>
      </p:sp>
      <p:sp>
        <p:nvSpPr>
          <p:cNvPr id="14" name="contrib_text_2"/>
          <p:cNvSpPr txBox="1"/>
          <p:nvPr/>
        </p:nvSpPr>
        <p:spPr>
          <a:xfrm>
            <a:off x="1600200" y="4187952"/>
            <a:ext cx="9875520" cy="640080"/>
          </a:xfrm>
          <a:prstGeom prst="rect">
            <a:avLst/>
          </a:prstGeom>
          <a:noFill/>
          <a:ln/>
        </p:spPr>
        <p:txBody>
          <a:bodyPr wrap="square" lIns="0" tIns="0" rIns="0" bIns="0" rtlCol="0" anchor="t"/>
          <a:lstStyle/>
          <a:p>
            <a:pPr indent="0" marL="0">
              <a:buNone/>
            </a:pPr>
            <a:r>
              <a:rPr lang="en-US" sz="1500" dirty="0">
                <a:solidFill>
                  <a:schemeClr val="tx1"/>
                </a:solidFill>
              </a:rPr>
              <a:t>Double DQN with urgency-weighted replay, digital twin counterfactuals, and an action mask giving high-risk infants at least twice the bandwidth share.</a:t>
            </a:r>
            <a:endParaRPr lang="en-US" sz="1500" dirty="0"/>
          </a:p>
        </p:txBody>
      </p:sp>
      <p:sp>
        <p:nvSpPr>
          <p:cNvPr id="15" name="contrib_3_circle"/>
          <p:cNvSpPr/>
          <p:nvPr/>
        </p:nvSpPr>
        <p:spPr>
          <a:xfrm>
            <a:off x="640080" y="5065776"/>
            <a:ext cx="731520" cy="731520"/>
          </a:xfrm>
          <a:prstGeom prst="ellipse">
            <a:avLst/>
          </a:prstGeom>
          <a:solidFill>
            <a:schemeClr val="accent6"/>
          </a:solidFill>
          <a:ln w="12700">
            <a:solidFill>
              <a:schemeClr val="accent6"/>
            </a:solidFill>
            <a:prstDash val="solid"/>
          </a:ln>
        </p:spPr>
      </p:sp>
      <p:pic>
        <p:nvPicPr>
          <p:cNvPr id="16" name="contrib_3_icon" descr="contrib_3">    </p:cNvPr>
          <p:cNvPicPr>
            <a:picLocks noChangeAspect="1"/>
          </p:cNvPicPr>
          <p:nvPr/>
        </p:nvPicPr>
        <p:blipFill>
          <a:blip r:embed="rId4"/>
          <a:stretch>
            <a:fillRect/>
          </a:stretch>
        </p:blipFill>
        <p:spPr>
          <a:xfrm>
            <a:off x="815645" y="5241341"/>
            <a:ext cx="380390" cy="380390"/>
          </a:xfrm>
          <a:prstGeom prst="rect">
            <a:avLst/>
          </a:prstGeom>
        </p:spPr>
      </p:pic>
      <p:sp>
        <p:nvSpPr>
          <p:cNvPr id="17" name="contrib_title_3"/>
          <p:cNvSpPr txBox="1"/>
          <p:nvPr/>
        </p:nvSpPr>
        <p:spPr>
          <a:xfrm>
            <a:off x="1600200" y="4974336"/>
            <a:ext cx="9875520" cy="411480"/>
          </a:xfrm>
          <a:prstGeom prst="rect">
            <a:avLst/>
          </a:prstGeom>
          <a:noFill/>
          <a:ln/>
        </p:spPr>
        <p:txBody>
          <a:bodyPr wrap="square" lIns="0" tIns="0" rIns="0" bIns="0" rtlCol="0" anchor="ctr"/>
          <a:lstStyle/>
          <a:p>
            <a:pPr indent="0" marL="0">
              <a:buNone/>
            </a:pPr>
            <a:r>
              <a:rPr lang="en-US" sz="1900" b="1" dirty="0">
                <a:solidFill>
                  <a:schemeClr val="tx2"/>
                </a:solidFill>
              </a:rPr>
              <a:t>Honest held-out validation</a:t>
            </a:r>
            <a:endParaRPr lang="en-US" sz="1900" dirty="0"/>
          </a:p>
        </p:txBody>
      </p:sp>
      <p:sp>
        <p:nvSpPr>
          <p:cNvPr id="18" name="contrib_text_3"/>
          <p:cNvSpPr txBox="1"/>
          <p:nvPr/>
        </p:nvSpPr>
        <p:spPr>
          <a:xfrm>
            <a:off x="1600200" y="5404104"/>
            <a:ext cx="9875520" cy="640080"/>
          </a:xfrm>
          <a:prstGeom prst="rect">
            <a:avLst/>
          </a:prstGeom>
          <a:noFill/>
          <a:ln/>
        </p:spPr>
        <p:txBody>
          <a:bodyPr wrap="square" lIns="0" tIns="0" rIns="0" bIns="0" rtlCol="0" anchor="t"/>
          <a:lstStyle/>
          <a:p>
            <a:pPr indent="0" marL="0">
              <a:buNone/>
            </a:pPr>
            <a:r>
              <a:rPr lang="en-US" sz="1500" dirty="0">
                <a:solidFill>
                  <a:schemeClr val="tx1"/>
                </a:solidFill>
              </a:rPr>
              <a:t>Five re-implemented baselines, 10 held-out seeds, paired Wilcoxon tests, and an ablation of every component.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System model: a NICU edge network with three compute tiers</a:t>
            </a:r>
            <a:endParaRPr lang="en-US" sz="3000" dirty="0"/>
          </a:p>
        </p:txBody>
      </p:sp>
      <p:pic>
        <p:nvPicPr>
          <p:cNvPr id="3" name="fig_system_model" descr="fig_system_model">    </p:cNvPr>
          <p:cNvPicPr>
            <a:picLocks noChangeAspect="1"/>
          </p:cNvPicPr>
          <p:nvPr/>
        </p:nvPicPr>
        <p:blipFill>
          <a:blip r:embed="rId1"/>
          <a:stretch>
            <a:fillRect/>
          </a:stretch>
        </p:blipFill>
        <p:spPr>
          <a:xfrm>
            <a:off x="548640" y="1325880"/>
            <a:ext cx="7223760" cy="3950494"/>
          </a:xfrm>
          <a:prstGeom prst="rect">
            <a:avLst/>
          </a:prstGeom>
        </p:spPr>
      </p:pic>
      <p:sp>
        <p:nvSpPr>
          <p:cNvPr id="4" name="system_card"/>
          <p:cNvSpPr/>
          <p:nvPr/>
        </p:nvSpPr>
        <p:spPr>
          <a:xfrm>
            <a:off x="8092440" y="1325880"/>
            <a:ext cx="3520440" cy="4526280"/>
          </a:xfrm>
          <a:prstGeom prst="roundRect">
            <a:avLst>
              <a:gd name="adj" fmla="val 3117"/>
            </a:avLst>
          </a:prstGeom>
          <a:solidFill>
            <a:schemeClr val="bg2"/>
          </a:solidFill>
          <a:ln w="12700">
            <a:solidFill>
              <a:schemeClr val="bg2"/>
            </a:solidFill>
            <a:prstDash val="solid"/>
          </a:ln>
        </p:spPr>
      </p:sp>
      <p:sp>
        <p:nvSpPr>
          <p:cNvPr id="5" name="system_text"/>
          <p:cNvSpPr txBox="1"/>
          <p:nvPr/>
        </p:nvSpPr>
        <p:spPr>
          <a:xfrm>
            <a:off x="8321040" y="1508760"/>
            <a:ext cx="3108960" cy="420624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Each round (60 s) the controller chooses per node:</a:t>
            </a:r>
            <a:endParaRPr lang="en-US" sz="1400" dirty="0"/>
          </a:p>
          <a:p>
            <a:pPr marL="342900" indent="-342900">
              <a:spcAft>
                <a:spcPts val="800"/>
              </a:spcAft>
              <a:buSzPct val="100000"/>
              <a:buChar char="•"/>
            </a:pPr>
            <a:r>
              <a:rPr lang="en-US" sz="1400" dirty="0">
                <a:solidFill>
                  <a:schemeClr val="tx1"/>
                </a:solidFill>
              </a:rPr>
              <a:t>Capture level: 0.5x, 1x, or 1.6x</a:t>
            </a:r>
            <a:endParaRPr lang="en-US" sz="1400" dirty="0"/>
          </a:p>
          <a:p>
            <a:pPr marL="342900" indent="-342900">
              <a:spcAft>
                <a:spcPts val="800"/>
              </a:spcAft>
              <a:buSzPct val="100000"/>
              <a:buChar char="•"/>
            </a:pPr>
            <a:r>
              <a:rPr lang="en-US" sz="1400" dirty="0">
                <a:solidFill>
                  <a:schemeClr val="tx1"/>
                </a:solidFill>
              </a:rPr>
              <a:t>Offload: local 0.1 GHz, gateway 2 GHz, or edge 24 GHz</a:t>
            </a:r>
            <a:endParaRPr lang="en-US" sz="1400" dirty="0"/>
          </a:p>
          <a:p>
            <a:pPr marL="342900" indent="-342900">
              <a:spcAft>
                <a:spcPts val="800"/>
              </a:spcAft>
              <a:buSzPct val="100000"/>
              <a:buChar char="•"/>
            </a:pPr>
            <a:r>
              <a:rPr lang="en-US" sz="1400" dirty="0">
                <a:solidFill>
                  <a:schemeClr val="tx1"/>
                </a:solidFill>
              </a:rPr>
              <a:t>Bandwidth priority with weight 1, 2, or 4</a:t>
            </a:r>
            <a:endParaRPr lang="en-US" sz="1400" dirty="0"/>
          </a:p>
          <a:p>
            <a:pPr indent="0" marL="0">
              <a:spcAft>
                <a:spcPts val="800"/>
              </a:spcAft>
              <a:buNone/>
            </a:pPr>
            <a:r>
              <a:rPr lang="en-US" sz="1400" dirty="0">
                <a:solidFill>
                  <a:schemeClr val="tx1"/>
                </a:solidFill>
              </a:rPr>
              <a:t>Objective: clinical reward that penalizes crossing delay, pending crossings, and energy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InterventionROP-Edge works in four stages</a:t>
            </a:r>
            <a:endParaRPr lang="en-US" sz="3000" dirty="0"/>
          </a:p>
        </p:txBody>
      </p:sp>
      <p:pic>
        <p:nvPicPr>
          <p:cNvPr id="3" name="fig_framework" descr="fig_framework">    </p:cNvPr>
          <p:cNvPicPr>
            <a:picLocks noChangeAspect="1"/>
          </p:cNvPicPr>
          <p:nvPr/>
        </p:nvPicPr>
        <p:blipFill>
          <a:blip r:embed="rId1"/>
          <a:stretch>
            <a:fillRect/>
          </a:stretch>
        </p:blipFill>
        <p:spPr>
          <a:xfrm>
            <a:off x="548640" y="1280160"/>
            <a:ext cx="7498080" cy="3967696"/>
          </a:xfrm>
          <a:prstGeom prst="rect">
            <a:avLst/>
          </a:prstGeom>
        </p:spPr>
      </p:pic>
      <p:sp>
        <p:nvSpPr>
          <p:cNvPr id="4" name="stage_badge_0"/>
          <p:cNvSpPr/>
          <p:nvPr/>
        </p:nvSpPr>
        <p:spPr>
          <a:xfrm>
            <a:off x="8366760" y="1371600"/>
            <a:ext cx="640080" cy="640080"/>
          </a:xfrm>
          <a:prstGeom prst="ellipse">
            <a:avLst/>
          </a:prstGeom>
          <a:solidFill>
            <a:schemeClr val="accent1"/>
          </a:solidFill>
          <a:ln w="12700">
            <a:solidFill>
              <a:schemeClr val="accent1"/>
            </a:solidFill>
            <a:prstDash val="solid"/>
          </a:ln>
        </p:spPr>
      </p:sp>
      <p:sp>
        <p:nvSpPr>
          <p:cNvPr id="5" name="stage_num_0"/>
          <p:cNvSpPr txBox="1"/>
          <p:nvPr/>
        </p:nvSpPr>
        <p:spPr>
          <a:xfrm>
            <a:off x="8366760" y="13716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stage_text_0"/>
          <p:cNvSpPr txBox="1"/>
          <p:nvPr/>
        </p:nvSpPr>
        <p:spPr>
          <a:xfrm>
            <a:off x="9144000" y="1371600"/>
            <a:ext cx="2468880" cy="640080"/>
          </a:xfrm>
          <a:prstGeom prst="rect">
            <a:avLst/>
          </a:prstGeom>
          <a:noFill/>
          <a:ln/>
        </p:spPr>
        <p:txBody>
          <a:bodyPr wrap="square" lIns="0" tIns="0" rIns="0" bIns="0" rtlCol="0" anchor="ctr"/>
          <a:lstStyle/>
          <a:p>
            <a:pPr indent="0" marL="0">
              <a:buNone/>
            </a:pPr>
            <a:r>
              <a:rPr lang="en-US" sz="1500" dirty="0">
                <a:solidFill>
                  <a:schemeClr val="tx1"/>
                </a:solidFill>
              </a:rPr>
              <a:t>Causal urgency per infant</a:t>
            </a:r>
            <a:endParaRPr lang="en-US" sz="1500" dirty="0"/>
          </a:p>
        </p:txBody>
      </p:sp>
      <p:sp>
        <p:nvSpPr>
          <p:cNvPr id="7" name="stage_badge_1"/>
          <p:cNvSpPr/>
          <p:nvPr/>
        </p:nvSpPr>
        <p:spPr>
          <a:xfrm>
            <a:off x="8366760" y="2423160"/>
            <a:ext cx="640080" cy="640080"/>
          </a:xfrm>
          <a:prstGeom prst="ellipse">
            <a:avLst/>
          </a:prstGeom>
          <a:solidFill>
            <a:schemeClr val="accent1"/>
          </a:solidFill>
          <a:ln w="12700">
            <a:solidFill>
              <a:schemeClr val="accent1"/>
            </a:solidFill>
            <a:prstDash val="solid"/>
          </a:ln>
        </p:spPr>
      </p:sp>
      <p:sp>
        <p:nvSpPr>
          <p:cNvPr id="8" name="stage_num_1"/>
          <p:cNvSpPr txBox="1"/>
          <p:nvPr/>
        </p:nvSpPr>
        <p:spPr>
          <a:xfrm>
            <a:off x="8366760" y="24231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stage_text_1"/>
          <p:cNvSpPr txBox="1"/>
          <p:nvPr/>
        </p:nvSpPr>
        <p:spPr>
          <a:xfrm>
            <a:off x="9144000" y="2423160"/>
            <a:ext cx="2468880" cy="640080"/>
          </a:xfrm>
          <a:prstGeom prst="rect">
            <a:avLst/>
          </a:prstGeom>
          <a:noFill/>
          <a:ln/>
        </p:spPr>
        <p:txBody>
          <a:bodyPr wrap="square" lIns="0" tIns="0" rIns="0" bIns="0" rtlCol="0" anchor="ctr"/>
          <a:lstStyle/>
          <a:p>
            <a:pPr indent="0" marL="0">
              <a:buNone/>
            </a:pPr>
            <a:r>
              <a:rPr lang="en-US" sz="1500" dirty="0">
                <a:solidFill>
                  <a:schemeClr val="tx1"/>
                </a:solidFill>
              </a:rPr>
              <a:t>Urgency-weighted double DQN</a:t>
            </a:r>
            <a:endParaRPr lang="en-US" sz="1500" dirty="0"/>
          </a:p>
        </p:txBody>
      </p:sp>
      <p:sp>
        <p:nvSpPr>
          <p:cNvPr id="10" name="stage_badge_2"/>
          <p:cNvSpPr/>
          <p:nvPr/>
        </p:nvSpPr>
        <p:spPr>
          <a:xfrm>
            <a:off x="8366760" y="3474720"/>
            <a:ext cx="640080" cy="640080"/>
          </a:xfrm>
          <a:prstGeom prst="ellipse">
            <a:avLst/>
          </a:prstGeom>
          <a:solidFill>
            <a:schemeClr val="accent1"/>
          </a:solidFill>
          <a:ln w="12700">
            <a:solidFill>
              <a:schemeClr val="accent1"/>
            </a:solidFill>
            <a:prstDash val="solid"/>
          </a:ln>
        </p:spPr>
      </p:sp>
      <p:sp>
        <p:nvSpPr>
          <p:cNvPr id="11" name="stage_num_2"/>
          <p:cNvSpPr txBox="1"/>
          <p:nvPr/>
        </p:nvSpPr>
        <p:spPr>
          <a:xfrm>
            <a:off x="8366760" y="347472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2" name="stage_text_2"/>
          <p:cNvSpPr txBox="1"/>
          <p:nvPr/>
        </p:nvSpPr>
        <p:spPr>
          <a:xfrm>
            <a:off x="9144000" y="3474720"/>
            <a:ext cx="2468880" cy="640080"/>
          </a:xfrm>
          <a:prstGeom prst="rect">
            <a:avLst/>
          </a:prstGeom>
          <a:noFill/>
          <a:ln/>
        </p:spPr>
        <p:txBody>
          <a:bodyPr wrap="square" lIns="0" tIns="0" rIns="0" bIns="0" rtlCol="0" anchor="ctr"/>
          <a:lstStyle/>
          <a:p>
            <a:pPr indent="0" marL="0">
              <a:buNone/>
            </a:pPr>
            <a:r>
              <a:rPr lang="en-US" sz="1500" dirty="0">
                <a:solidFill>
                  <a:schemeClr val="tx1"/>
                </a:solidFill>
              </a:rPr>
              <a:t>Digital twin counterfactuals</a:t>
            </a:r>
            <a:endParaRPr lang="en-US" sz="1500" dirty="0"/>
          </a:p>
        </p:txBody>
      </p:sp>
      <p:sp>
        <p:nvSpPr>
          <p:cNvPr id="13" name="stage_badge_3"/>
          <p:cNvSpPr/>
          <p:nvPr/>
        </p:nvSpPr>
        <p:spPr>
          <a:xfrm>
            <a:off x="8366760" y="4526280"/>
            <a:ext cx="640080" cy="640080"/>
          </a:xfrm>
          <a:prstGeom prst="ellipse">
            <a:avLst/>
          </a:prstGeom>
          <a:solidFill>
            <a:schemeClr val="accent2"/>
          </a:solidFill>
          <a:ln w="12700">
            <a:solidFill>
              <a:schemeClr val="accent1"/>
            </a:solidFill>
            <a:prstDash val="solid"/>
          </a:ln>
        </p:spPr>
      </p:sp>
      <p:sp>
        <p:nvSpPr>
          <p:cNvPr id="14" name="stage_num_3"/>
          <p:cNvSpPr txBox="1"/>
          <p:nvPr/>
        </p:nvSpPr>
        <p:spPr>
          <a:xfrm>
            <a:off x="8366760" y="45262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5" name="stage_text_3"/>
          <p:cNvSpPr txBox="1"/>
          <p:nvPr/>
        </p:nvSpPr>
        <p:spPr>
          <a:xfrm>
            <a:off x="9144000" y="4526280"/>
            <a:ext cx="2468880" cy="640080"/>
          </a:xfrm>
          <a:prstGeom prst="rect">
            <a:avLst/>
          </a:prstGeom>
          <a:noFill/>
          <a:ln/>
        </p:spPr>
        <p:txBody>
          <a:bodyPr wrap="square" lIns="0" tIns="0" rIns="0" bIns="0" rtlCol="0" anchor="ctr"/>
          <a:lstStyle/>
          <a:p>
            <a:pPr indent="0" marL="0">
              <a:buNone/>
            </a:pPr>
            <a:r>
              <a:rPr lang="en-US" sz="1500" dirty="0">
                <a:solidFill>
                  <a:schemeClr val="tx1"/>
                </a:solidFill>
              </a:rPr>
              <a:t>Do-calculus action mask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Stage 1: GA-stratified counterfactual urgency</a:t>
            </a:r>
            <a:endParaRPr lang="en-US" sz="3000" dirty="0"/>
          </a:p>
        </p:txBody>
      </p:sp>
      <p:pic>
        <p:nvPicPr>
          <p:cNvPr id="3" name="fig_causal_module" descr="fig_causal_module">    </p:cNvPr>
          <p:cNvPicPr>
            <a:picLocks noChangeAspect="1"/>
          </p:cNvPicPr>
          <p:nvPr/>
        </p:nvPicPr>
        <p:blipFill>
          <a:blip r:embed="rId1"/>
          <a:stretch>
            <a:fillRect/>
          </a:stretch>
        </p:blipFill>
        <p:spPr>
          <a:xfrm>
            <a:off x="548640" y="1280160"/>
            <a:ext cx="11064240" cy="5384775"/>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Stages 2 to 4: masked Q-learning and twin</a:t>
            </a:r>
            <a:endParaRPr lang="en-US" sz="3000" dirty="0"/>
          </a:p>
        </p:txBody>
      </p:sp>
      <p:pic>
        <p:nvPicPr>
          <p:cNvPr id="3" name="fig_orchestrator" descr="fig_orchestrator">    </p:cNvPr>
          <p:cNvPicPr>
            <a:picLocks noChangeAspect="1"/>
          </p:cNvPicPr>
          <p:nvPr/>
        </p:nvPicPr>
        <p:blipFill>
          <a:blip r:embed="rId1"/>
          <a:stretch>
            <a:fillRect/>
          </a:stretch>
        </p:blipFill>
        <p:spPr>
          <a:xfrm>
            <a:off x="548640" y="1280160"/>
            <a:ext cx="7406640" cy="3579806"/>
          </a:xfrm>
          <a:prstGeom prst="rect">
            <a:avLst/>
          </a:prstGeom>
        </p:spPr>
      </p:pic>
      <p:sp>
        <p:nvSpPr>
          <p:cNvPr id="4" name="mask_card"/>
          <p:cNvSpPr/>
          <p:nvPr/>
        </p:nvSpPr>
        <p:spPr>
          <a:xfrm>
            <a:off x="8229600" y="1280160"/>
            <a:ext cx="3383280" cy="3566160"/>
          </a:xfrm>
          <a:prstGeom prst="roundRect">
            <a:avLst>
              <a:gd name="adj" fmla="val 3243"/>
            </a:avLst>
          </a:prstGeom>
          <a:solidFill>
            <a:schemeClr val="bg2"/>
          </a:solidFill>
          <a:ln w="12700">
            <a:solidFill>
              <a:schemeClr val="bg2"/>
            </a:solidFill>
            <a:prstDash val="solid"/>
          </a:ln>
        </p:spPr>
      </p:sp>
      <p:sp>
        <p:nvSpPr>
          <p:cNvPr id="5" name="mask_icon_circle"/>
          <p:cNvSpPr/>
          <p:nvPr/>
        </p:nvSpPr>
        <p:spPr>
          <a:xfrm>
            <a:off x="8458200" y="1463040"/>
            <a:ext cx="685800" cy="685800"/>
          </a:xfrm>
          <a:prstGeom prst="ellipse">
            <a:avLst/>
          </a:prstGeom>
          <a:solidFill>
            <a:schemeClr val="accent2"/>
          </a:solidFill>
          <a:ln w="12700">
            <a:solidFill>
              <a:schemeClr val="accent2"/>
            </a:solidFill>
            <a:prstDash val="solid"/>
          </a:ln>
        </p:spPr>
      </p:sp>
      <p:pic>
        <p:nvPicPr>
          <p:cNvPr id="6" name="mask_icon_icon" descr="mask_icon">    </p:cNvPr>
          <p:cNvPicPr>
            <a:picLocks noChangeAspect="1"/>
          </p:cNvPicPr>
          <p:nvPr/>
        </p:nvPicPr>
        <p:blipFill>
          <a:blip r:embed="rId2"/>
          <a:stretch>
            <a:fillRect/>
          </a:stretch>
        </p:blipFill>
        <p:spPr>
          <a:xfrm>
            <a:off x="8622792" y="1627632"/>
            <a:ext cx="356616" cy="356616"/>
          </a:xfrm>
          <a:prstGeom prst="rect">
            <a:avLst/>
          </a:prstGeom>
        </p:spPr>
      </p:pic>
      <p:sp>
        <p:nvSpPr>
          <p:cNvPr id="7" name="mask_title"/>
          <p:cNvSpPr txBox="1"/>
          <p:nvPr/>
        </p:nvSpPr>
        <p:spPr>
          <a:xfrm>
            <a:off x="9281160" y="1554480"/>
            <a:ext cx="2194560" cy="502920"/>
          </a:xfrm>
          <a:prstGeom prst="rect">
            <a:avLst/>
          </a:prstGeom>
          <a:noFill/>
          <a:ln/>
        </p:spPr>
        <p:txBody>
          <a:bodyPr wrap="square" lIns="0" tIns="0" rIns="0" bIns="0" rtlCol="0" anchor="ctr"/>
          <a:lstStyle/>
          <a:p>
            <a:pPr indent="0" marL="0">
              <a:buNone/>
            </a:pPr>
            <a:r>
              <a:rPr lang="en-US" sz="1800" b="1" dirty="0">
                <a:solidFill>
                  <a:schemeClr val="tx2"/>
                </a:solidFill>
              </a:rPr>
              <a:t>Mask guarantee</a:t>
            </a:r>
            <a:endParaRPr lang="en-US" sz="1800" dirty="0"/>
          </a:p>
        </p:txBody>
      </p:sp>
      <p:sp>
        <p:nvSpPr>
          <p:cNvPr id="8" name="mask_text"/>
          <p:cNvSpPr txBox="1"/>
          <p:nvPr/>
        </p:nvSpPr>
        <p:spPr>
          <a:xfrm>
            <a:off x="8458200" y="2286000"/>
            <a:ext cx="2971800" cy="2377440"/>
          </a:xfrm>
          <a:prstGeom prst="rect">
            <a:avLst/>
          </a:prstGeom>
          <a:noFill/>
          <a:ln/>
        </p:spPr>
        <p:txBody>
          <a:bodyPr wrap="square" lIns="0" tIns="0" rIns="0" bIns="0" rtlCol="0" anchor="t"/>
          <a:lstStyle/>
          <a:p>
            <a:pPr indent="0" marL="0">
              <a:buNone/>
            </a:pPr>
            <a:r>
              <a:rPr lang="en-US" sz="1400" dirty="0">
                <a:solidFill>
                  <a:schemeClr val="tx1"/>
                </a:solidFill>
              </a:rPr>
              <a:t>A high-risk infant (urgency at least 0.15) always keeps imaging on, never falls back to slow local inference, and receives at least 2x the bandwidth share of any other infant on its gateway.</a:t>
            </a:r>
            <a:endParaRPr lang="en-US" sz="1400" dirty="0"/>
          </a:p>
        </p:txBody>
      </p:sp>
      <p:sp>
        <p:nvSpPr>
          <p:cNvPr id="9" name="mask_caption"/>
          <p:cNvSpPr txBox="1"/>
          <p:nvPr/>
        </p:nvSpPr>
        <p:spPr>
          <a:xfrm>
            <a:off x="548640" y="5074920"/>
            <a:ext cx="11064240" cy="457200"/>
          </a:xfrm>
          <a:prstGeom prst="rect">
            <a:avLst/>
          </a:prstGeom>
          <a:noFill/>
          <a:ln/>
        </p:spPr>
        <p:txBody>
          <a:bodyPr wrap="square" lIns="0" tIns="0" rIns="0" bIns="0" rtlCol="0" anchor="ctr"/>
          <a:lstStyle/>
          <a:p>
            <a:pPr indent="0" marL="0">
              <a:buNone/>
            </a:pPr>
            <a:r>
              <a:rPr lang="en-US" sz="1400" i="1" dirty="0">
                <a:solidFill>
                  <a:schemeClr val="accent5"/>
                </a:solidFill>
              </a:rPr>
              <a:t>27 joint actions: 4 allowed for a high-risk infant, 18 for its gateway neighbors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Evaluation protocol</a:t>
            </a:r>
            <a:endParaRPr lang="en-US" sz="3000" dirty="0"/>
          </a:p>
        </p:txBody>
      </p:sp>
      <p:graphicFrame>
        <p:nvGraphicFramePr>
          <p:cNvPr id="10" name="setup_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94560"/>
                <a:gridCol w="8869680"/>
              </a:tblGrid>
              <a:tr h="566928">
                <a:tc>
                  <a:txBody>
                    <a:bodyPr/>
                    <a:lstStyle/>
                    <a:p>
                      <a:pPr indent="0" marL="0">
                        <a:buNone/>
                      </a:pPr>
                      <a:r>
                        <a:rPr lang="en-US" sz="1400" b="1" dirty="0">
                          <a:solidFill>
                            <a:srgbClr val="EEF4F6"/>
                          </a:solidFill>
                          <a:latin typeface="Calibri" pitchFamily="34" charset="0"/>
                          <a:ea typeface="Calibri" pitchFamily="34" charset="-122"/>
                          <a:cs typeface="Calibri" pitchFamily="34" charset="-120"/>
                        </a:rPr>
                        <a:t>Aspect</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0B4F6C"/>
                    </a:solidFill>
                  </a:tcPr>
                </a:tc>
                <a:tc>
                  <a:txBody>
                    <a:bodyPr/>
                    <a:lstStyle/>
                    <a:p>
                      <a:pPr indent="0" marL="0">
                        <a:buNone/>
                      </a:pPr>
                      <a:r>
                        <a:rPr lang="en-US" sz="1400" b="1" dirty="0">
                          <a:solidFill>
                            <a:srgbClr val="EEF4F6"/>
                          </a:solidFill>
                          <a:latin typeface="Calibri" pitchFamily="34" charset="0"/>
                          <a:ea typeface="Calibri" pitchFamily="34" charset="-122"/>
                          <a:cs typeface="Calibri" pitchFamily="34" charset="-120"/>
                        </a:rPr>
                        <a:t>Setting</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0B4F6C"/>
                    </a:solidFill>
                  </a:tcPr>
                </a:tc>
              </a:tr>
              <a:tr h="566928">
                <a:tc>
                  <a:txBody>
                    <a:bodyPr/>
                    <a:lstStyle/>
                    <a:p>
                      <a:pPr indent="0" marL="0">
                        <a:buNone/>
                      </a:pPr>
                      <a:r>
                        <a:rPr lang="en-US" sz="1400" dirty="0">
                          <a:solidFill>
                            <a:srgbClr val="1B2A33"/>
                          </a:solidFill>
                          <a:latin typeface="Calibri" pitchFamily="34" charset="0"/>
                          <a:ea typeface="Calibri" pitchFamily="34" charset="-122"/>
                          <a:cs typeface="Calibri" pitchFamily="34" charset="-120"/>
                        </a:rPr>
                        <a:t>Clinical data</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latin typeface="Calibri" pitchFamily="34" charset="0"/>
                          <a:ea typeface="Calibri" pitchFamily="34" charset="-122"/>
                          <a:cs typeface="Calibri" pitchFamily="34" charset="-120"/>
                        </a:rPr>
                        <a:t>Real covariates of 188 infants (484 series); semi-synthetic oxygen, treatment, and outcomes</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A33"/>
                          </a:solidFill>
                          <a:latin typeface="Calibri" pitchFamily="34" charset="0"/>
                          <a:ea typeface="Calibri" pitchFamily="34" charset="-122"/>
                          <a:cs typeface="Calibri" pitchFamily="34" charset="-120"/>
                        </a:rPr>
                        <a:t>Causal set-up</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latin typeface="Calibri" pitchFamily="34" charset="0"/>
                          <a:ea typeface="Calibri" pitchFamily="34" charset="-122"/>
                          <a:cs typeface="Calibri" pitchFamily="34" charset="-120"/>
                        </a:rPr>
                        <a:t>457 series, 27 treated; oxygen confounding strength 1.5; 200 cluster bootstrap replicates</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A33"/>
                          </a:solidFill>
                          <a:latin typeface="Calibri" pitchFamily="34" charset="0"/>
                          <a:ea typeface="Calibri" pitchFamily="34" charset="-122"/>
                          <a:cs typeface="Calibri" pitchFamily="34" charset="-120"/>
                        </a:rPr>
                        <a:t>Network</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latin typeface="Calibri" pitchFamily="34" charset="0"/>
                          <a:ea typeface="Calibri" pitchFamily="34" charset="-122"/>
                          <a:cs typeface="Calibri" pitchFamily="34" charset="-120"/>
                        </a:rPr>
                        <a:t>20 nodes, 3 gateways, 250 kb/s, O-QPSK, 4 dB shadowing, 10% interference bursts</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A33"/>
                          </a:solidFill>
                          <a:latin typeface="Calibri" pitchFamily="34" charset="0"/>
                          <a:ea typeface="Calibri" pitchFamily="34" charset="-122"/>
                          <a:cs typeface="Calibri" pitchFamily="34" charset="-120"/>
                        </a:rPr>
                        <a:t>Training</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latin typeface="Calibri" pitchFamily="34" charset="0"/>
                          <a:ea typeface="Calibri" pitchFamily="34" charset="-122"/>
                          <a:cs typeface="Calibri" pitchFamily="34" charset="-120"/>
                        </a:rPr>
                        <a:t>100 episodes of 200 rounds; batch 128; buffer 60,000; target sync every 200 rounds</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A33"/>
                          </a:solidFill>
                          <a:latin typeface="Calibri" pitchFamily="34" charset="0"/>
                          <a:ea typeface="Calibri" pitchFamily="34" charset="-122"/>
                          <a:cs typeface="Calibri" pitchFamily="34" charset="-120"/>
                        </a:rPr>
                        <a:t>Evaluation</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latin typeface="Calibri" pitchFamily="34" charset="0"/>
                          <a:ea typeface="Calibri" pitchFamily="34" charset="-122"/>
                          <a:cs typeface="Calibri" pitchFamily="34" charset="-120"/>
                        </a:rPr>
                        <a:t>Held-out seeds 6000 to 6009 (400 rounds); lifetime seeds 8000 to 8002 with 300 J</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A33"/>
                          </a:solidFill>
                          <a:latin typeface="Calibri" pitchFamily="34" charset="0"/>
                          <a:ea typeface="Calibri" pitchFamily="34" charset="-122"/>
                          <a:cs typeface="Calibri" pitchFamily="34" charset="-120"/>
                        </a:rPr>
                        <a:t>Baselines</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latin typeface="Calibri" pitchFamily="34" charset="0"/>
                          <a:ea typeface="Calibri" pitchFamily="34" charset="-122"/>
                          <a:cs typeface="Calibri" pitchFamily="34" charset="-120"/>
                        </a:rPr>
                        <a:t>HGAT-PPO, PPO-RA, PD-NoisyDQN, DT-QMIX, JOFO-FedDQN on the same action space and urgency input</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Urgency ranking is reliable; effect magnitudes are not</a:t>
            </a:r>
            <a:endParaRPr lang="en-US" sz="3000" dirty="0"/>
          </a:p>
        </p:txBody>
      </p:sp>
      <p:graphicFrame>
        <p:nvGraphicFramePr>
          <p:cNvPr id="3" name="chart_spearman" descr=""/>
          <p:cNvGraphicFramePr/>
          <p:nvPr/>
        </p:nvGraphicFramePr>
        <p:xfrm>
          <a:off x="548640" y="1325880"/>
          <a:ext cx="548640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_pehe" descr=""/>
          <p:cNvGraphicFramePr/>
          <p:nvPr/>
        </p:nvGraphicFramePr>
        <p:xfrm>
          <a:off x="6217920" y="1325880"/>
          <a:ext cx="5394960" cy="4023360"/>
        </p:xfrm>
        <a:graphic xmlns:a="http://schemas.openxmlformats.org/drawingml/2006/main">
          <a:graphicData uri="http://schemas.openxmlformats.org/drawingml/2006/chart">
            <c:chart xmlns:c="http://schemas.openxmlformats.org/drawingml/2006/chart" r:id="rId2"/>
          </a:graphicData>
        </a:graphic>
      </p:graphicFrame>
      <p:sp>
        <p:nvSpPr>
          <p:cNvPr id="5" name="causal_note"/>
          <p:cNvSpPr txBox="1"/>
          <p:nvPr/>
        </p:nvSpPr>
        <p:spPr>
          <a:xfrm>
            <a:off x="548640" y="5532120"/>
            <a:ext cx="11064240" cy="548640"/>
          </a:xfrm>
          <a:prstGeom prst="rect">
            <a:avLst/>
          </a:prstGeom>
          <a:noFill/>
          <a:ln/>
        </p:spPr>
        <p:txBody>
          <a:bodyPr wrap="square" lIns="0" tIns="0" rIns="0" bIns="0" rtlCol="0" anchor="ctr"/>
          <a:lstStyle/>
          <a:p>
            <a:pPr indent="0" marL="0">
              <a:buNone/>
            </a:pPr>
            <a:r>
              <a:rPr lang="en-US" sz="1400" i="1" dirty="0">
                <a:solidFill>
                  <a:schemeClr val="tx1"/>
                </a:solidFill>
              </a:rPr>
              <a:t>Only 5 infants are treatment-indicated, so effects are identifiable mainly in the GA 28 weeks or younger stratum (24 of 27 treated series).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Head-to-head on 10 held-out seeds</a:t>
            </a:r>
            <a:endParaRPr lang="en-US" sz="3000" dirty="0"/>
          </a:p>
        </p:txBody>
      </p:sp>
      <p:graphicFrame>
        <p:nvGraphicFramePr>
          <p:cNvPr id="3" name="chart_latency" descr=""/>
          <p:cNvGraphicFramePr/>
          <p:nvPr/>
        </p:nvGraphicFramePr>
        <p:xfrm>
          <a:off x="548640" y="132588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_energy" descr=""/>
          <p:cNvGraphicFramePr/>
          <p:nvPr/>
        </p:nvGraphicFramePr>
        <p:xfrm>
          <a:off x="6217920" y="1325880"/>
          <a:ext cx="5394960" cy="4206240"/>
        </p:xfrm>
        <a:graphic xmlns:a="http://schemas.openxmlformats.org/drawingml/2006/main">
          <a:graphicData uri="http://schemas.openxmlformats.org/drawingml/2006/chart">
            <c:chart xmlns:c="http://schemas.openxmlformats.org/drawingml/2006/chart" r:id="rId2"/>
          </a:graphicData>
        </a:graphic>
      </p:graphicFrame>
      <p:sp>
        <p:nvSpPr>
          <p:cNvPr id="5" name="h2h_note"/>
          <p:cNvSpPr txBox="1"/>
          <p:nvPr/>
        </p:nvSpPr>
        <p:spPr>
          <a:xfrm>
            <a:off x="548640" y="5669280"/>
            <a:ext cx="11064240" cy="548640"/>
          </a:xfrm>
          <a:prstGeom prst="rect">
            <a:avLst/>
          </a:prstGeom>
          <a:noFill/>
          <a:ln/>
        </p:spPr>
        <p:txBody>
          <a:bodyPr wrap="square" lIns="0" tIns="0" rIns="0" bIns="0" rtlCol="0" anchor="ctr"/>
          <a:lstStyle/>
          <a:p>
            <a:pPr indent="0" marL="0">
              <a:buNone/>
            </a:pPr>
            <a:r>
              <a:rPr lang="en-US" sz="1400" i="1" dirty="0">
                <a:solidFill>
                  <a:schemeClr val="tx1"/>
                </a:solidFill>
              </a:rPr>
              <a:t>25.2% lower crossing latency than the baseline mean, yet PD-NoisyDQN is stronger in latency, QoS (86.77 vs 78.49), and deadline rate (0.989 vs 0.920).</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Where the gains are significant</a:t>
            </a:r>
            <a:endParaRPr lang="en-US" sz="3000" dirty="0"/>
          </a:p>
        </p:txBody>
      </p:sp>
      <p:graphicFrame>
        <p:nvGraphicFramePr>
          <p:cNvPr id="13" name="significance_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286000"/>
                <a:gridCol w="2194560"/>
                <a:gridCol w="2194560"/>
                <a:gridCol w="2194560"/>
                <a:gridCol w="2194560"/>
              </a:tblGrid>
              <a:tr h="566928">
                <a:tc>
                  <a:txBody>
                    <a:bodyPr/>
                    <a:lstStyle/>
                    <a:p>
                      <a:pPr indent="0" marL="0">
                        <a:buNone/>
                      </a:pPr>
                      <a:r>
                        <a:rPr lang="en-US" sz="1400" b="1" dirty="0">
                          <a:solidFill>
                            <a:srgbClr val="EEF4F6"/>
                          </a:solidFill>
                          <a:latin typeface="Calibri" pitchFamily="34" charset="0"/>
                          <a:ea typeface="Calibri" pitchFamily="34" charset="-122"/>
                          <a:cs typeface="Calibri" pitchFamily="34" charset="-120"/>
                        </a:rPr>
                        <a:t>Baseline</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0B4F6C"/>
                    </a:solidFill>
                  </a:tcPr>
                </a:tc>
                <a:tc>
                  <a:txBody>
                    <a:bodyPr/>
                    <a:lstStyle/>
                    <a:p>
                      <a:pPr indent="0" marL="0">
                        <a:buNone/>
                      </a:pPr>
                      <a:r>
                        <a:rPr lang="en-US" sz="1400" b="1" dirty="0">
                          <a:solidFill>
                            <a:srgbClr val="EEF4F6"/>
                          </a:solidFill>
                          <a:latin typeface="Calibri" pitchFamily="34" charset="0"/>
                          <a:ea typeface="Calibri" pitchFamily="34" charset="-122"/>
                          <a:cs typeface="Calibri" pitchFamily="34" charset="-120"/>
                        </a:rPr>
                        <a:t>Latency</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0B4F6C"/>
                    </a:solidFill>
                  </a:tcPr>
                </a:tc>
                <a:tc>
                  <a:txBody>
                    <a:bodyPr/>
                    <a:lstStyle/>
                    <a:p>
                      <a:pPr indent="0" marL="0">
                        <a:buNone/>
                      </a:pPr>
                      <a:r>
                        <a:rPr lang="en-US" sz="1400" b="1" dirty="0">
                          <a:solidFill>
                            <a:srgbClr val="EEF4F6"/>
                          </a:solidFill>
                          <a:latin typeface="Calibri" pitchFamily="34" charset="0"/>
                          <a:ea typeface="Calibri" pitchFamily="34" charset="-122"/>
                          <a:cs typeface="Calibri" pitchFamily="34" charset="-120"/>
                        </a:rPr>
                        <a:t>Energy</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0B4F6C"/>
                    </a:solidFill>
                  </a:tcPr>
                </a:tc>
                <a:tc>
                  <a:txBody>
                    <a:bodyPr/>
                    <a:lstStyle/>
                    <a:p>
                      <a:pPr indent="0" marL="0">
                        <a:buNone/>
                      </a:pPr>
                      <a:r>
                        <a:rPr lang="en-US" sz="1400" b="1" dirty="0">
                          <a:solidFill>
                            <a:srgbClr val="EEF4F6"/>
                          </a:solidFill>
                          <a:latin typeface="Calibri" pitchFamily="34" charset="0"/>
                          <a:ea typeface="Calibri" pitchFamily="34" charset="-122"/>
                          <a:cs typeface="Calibri" pitchFamily="34" charset="-120"/>
                        </a:rPr>
                        <a:t>QoS</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0B4F6C"/>
                    </a:solidFill>
                  </a:tcPr>
                </a:tc>
                <a:tc>
                  <a:txBody>
                    <a:bodyPr/>
                    <a:lstStyle/>
                    <a:p>
                      <a:pPr indent="0" marL="0">
                        <a:buNone/>
                      </a:pPr>
                      <a:r>
                        <a:rPr lang="en-US" sz="1400" b="1" dirty="0">
                          <a:solidFill>
                            <a:srgbClr val="EEF4F6"/>
                          </a:solidFill>
                          <a:latin typeface="Calibri" pitchFamily="34" charset="0"/>
                          <a:ea typeface="Calibri" pitchFamily="34" charset="-122"/>
                          <a:cs typeface="Calibri" pitchFamily="34" charset="-120"/>
                        </a:rPr>
                        <a:t>Deadline</a:t>
                      </a:r>
                      <a:endParaRPr lang="en-US" sz="14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0B4F6C"/>
                    </a:solidFill>
                  </a:tcPr>
                </a:tc>
              </a:tr>
              <a:tr h="566928">
                <a:tc>
                  <a:txBody>
                    <a:bodyPr/>
                    <a:lstStyle/>
                    <a:p>
                      <a:pPr indent="0" marL="0">
                        <a:buNone/>
                      </a:pPr>
                      <a:r>
                        <a:rPr lang="en-US" sz="1500" dirty="0">
                          <a:solidFill>
                            <a:srgbClr val="1B2A33"/>
                          </a:solidFill>
                          <a:latin typeface="Calibri" pitchFamily="34" charset="0"/>
                          <a:ea typeface="Calibri" pitchFamily="34" charset="-122"/>
                          <a:cs typeface="Calibri" pitchFamily="34" charset="-120"/>
                        </a:rPr>
                        <a:t>HGAT-PPO</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b="1" dirty="0">
                          <a:solidFill>
                            <a:srgbClr val="1E7A4F"/>
                          </a:solidFill>
                          <a:latin typeface="Calibri" pitchFamily="34" charset="0"/>
                          <a:ea typeface="Calibri" pitchFamily="34" charset="-122"/>
                          <a:cs typeface="Calibri" pitchFamily="34" charset="-120"/>
                        </a:rPr>
                        <a:t>-34.3% (p=0.002)</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B23A2E"/>
                          </a:solidFill>
                          <a:latin typeface="Calibri" pitchFamily="34" charset="0"/>
                          <a:ea typeface="Calibri" pitchFamily="34" charset="-122"/>
                          <a:cs typeface="Calibri" pitchFamily="34" charset="-120"/>
                        </a:rPr>
                        <a:t>+50.0% (p=0.002)</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7A8C99"/>
                          </a:solidFill>
                          <a:latin typeface="Calibri" pitchFamily="34" charset="0"/>
                          <a:ea typeface="Calibri" pitchFamily="34" charset="-122"/>
                          <a:cs typeface="Calibri" pitchFamily="34" charset="-120"/>
                        </a:rPr>
                        <a:t>+2.1% (p=0.322)</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b="1" dirty="0">
                          <a:solidFill>
                            <a:srgbClr val="1E7A4F"/>
                          </a:solidFill>
                          <a:latin typeface="Calibri" pitchFamily="34" charset="0"/>
                          <a:ea typeface="Calibri" pitchFamily="34" charset="-122"/>
                          <a:cs typeface="Calibri" pitchFamily="34" charset="-120"/>
                        </a:rPr>
                        <a:t>+8.3% (p=0.002)</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r>
              <a:tr h="566928">
                <a:tc>
                  <a:txBody>
                    <a:bodyPr/>
                    <a:lstStyle/>
                    <a:p>
                      <a:pPr indent="0" marL="0">
                        <a:buNone/>
                      </a:pPr>
                      <a:r>
                        <a:rPr lang="en-US" sz="1500" dirty="0">
                          <a:solidFill>
                            <a:srgbClr val="1B2A33"/>
                          </a:solidFill>
                          <a:latin typeface="Calibri" pitchFamily="34" charset="0"/>
                          <a:ea typeface="Calibri" pitchFamily="34" charset="-122"/>
                          <a:cs typeface="Calibri" pitchFamily="34" charset="-120"/>
                        </a:rPr>
                        <a:t>PPO-RA</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7A8C99"/>
                          </a:solidFill>
                          <a:latin typeface="Calibri" pitchFamily="34" charset="0"/>
                          <a:ea typeface="Calibri" pitchFamily="34" charset="-122"/>
                          <a:cs typeface="Calibri" pitchFamily="34" charset="-120"/>
                        </a:rPr>
                        <a:t>+8.9% (p=0.695)</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b="1" dirty="0">
                          <a:solidFill>
                            <a:srgbClr val="1E7A4F"/>
                          </a:solidFill>
                          <a:latin typeface="Calibri" pitchFamily="34" charset="0"/>
                          <a:ea typeface="Calibri" pitchFamily="34" charset="-122"/>
                          <a:cs typeface="Calibri" pitchFamily="34" charset="-120"/>
                        </a:rPr>
                        <a:t>-12.7% (p=0.002)</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B23A2E"/>
                          </a:solidFill>
                          <a:latin typeface="Calibri" pitchFamily="34" charset="0"/>
                          <a:ea typeface="Calibri" pitchFamily="34" charset="-122"/>
                          <a:cs typeface="Calibri" pitchFamily="34" charset="-120"/>
                        </a:rPr>
                        <a:t>-4.4% (p=0.037)</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7A8C99"/>
                          </a:solidFill>
                          <a:latin typeface="Calibri" pitchFamily="34" charset="0"/>
                          <a:ea typeface="Calibri" pitchFamily="34" charset="-122"/>
                          <a:cs typeface="Calibri" pitchFamily="34" charset="-120"/>
                        </a:rPr>
                        <a:t>+2.0% (p=0.193)</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r>
              <a:tr h="566928">
                <a:tc>
                  <a:txBody>
                    <a:bodyPr/>
                    <a:lstStyle/>
                    <a:p>
                      <a:pPr indent="0" marL="0">
                        <a:buNone/>
                      </a:pPr>
                      <a:r>
                        <a:rPr lang="en-US" sz="1500" dirty="0">
                          <a:solidFill>
                            <a:srgbClr val="1B2A33"/>
                          </a:solidFill>
                          <a:latin typeface="Calibri" pitchFamily="34" charset="0"/>
                          <a:ea typeface="Calibri" pitchFamily="34" charset="-122"/>
                          <a:cs typeface="Calibri" pitchFamily="34" charset="-120"/>
                        </a:rPr>
                        <a:t>PD-NoisyDQN</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B23A2E"/>
                          </a:solidFill>
                          <a:latin typeface="Calibri" pitchFamily="34" charset="0"/>
                          <a:ea typeface="Calibri" pitchFamily="34" charset="-122"/>
                          <a:cs typeface="Calibri" pitchFamily="34" charset="-120"/>
                        </a:rPr>
                        <a:t>+31.5% (p=0.049)</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B23A2E"/>
                          </a:solidFill>
                          <a:latin typeface="Calibri" pitchFamily="34" charset="0"/>
                          <a:ea typeface="Calibri" pitchFamily="34" charset="-122"/>
                          <a:cs typeface="Calibri" pitchFamily="34" charset="-120"/>
                        </a:rPr>
                        <a:t>+7.3% (p=0.002)</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B23A2E"/>
                          </a:solidFill>
                          <a:latin typeface="Calibri" pitchFamily="34" charset="0"/>
                          <a:ea typeface="Calibri" pitchFamily="34" charset="-122"/>
                          <a:cs typeface="Calibri" pitchFamily="34" charset="-120"/>
                        </a:rPr>
                        <a:t>-9.5% (p=0.002)</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B23A2E"/>
                          </a:solidFill>
                          <a:latin typeface="Calibri" pitchFamily="34" charset="0"/>
                          <a:ea typeface="Calibri" pitchFamily="34" charset="-122"/>
                          <a:cs typeface="Calibri" pitchFamily="34" charset="-120"/>
                        </a:rPr>
                        <a:t>-7.0% (p=0.002)</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r>
              <a:tr h="566928">
                <a:tc>
                  <a:txBody>
                    <a:bodyPr/>
                    <a:lstStyle/>
                    <a:p>
                      <a:pPr indent="0" marL="0">
                        <a:buNone/>
                      </a:pPr>
                      <a:r>
                        <a:rPr lang="en-US" sz="1500" dirty="0">
                          <a:solidFill>
                            <a:srgbClr val="1B2A33"/>
                          </a:solidFill>
                          <a:latin typeface="Calibri" pitchFamily="34" charset="0"/>
                          <a:ea typeface="Calibri" pitchFamily="34" charset="-122"/>
                          <a:cs typeface="Calibri" pitchFamily="34" charset="-120"/>
                        </a:rPr>
                        <a:t>DT-QMIX</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7A8C99"/>
                          </a:solidFill>
                          <a:latin typeface="Calibri" pitchFamily="34" charset="0"/>
                          <a:ea typeface="Calibri" pitchFamily="34" charset="-122"/>
                          <a:cs typeface="Calibri" pitchFamily="34" charset="-120"/>
                        </a:rPr>
                        <a:t>+26.6% (p=0.322)</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b="1" dirty="0">
                          <a:solidFill>
                            <a:srgbClr val="1E7A4F"/>
                          </a:solidFill>
                          <a:latin typeface="Calibri" pitchFamily="34" charset="0"/>
                          <a:ea typeface="Calibri" pitchFamily="34" charset="-122"/>
                          <a:cs typeface="Calibri" pitchFamily="34" charset="-120"/>
                        </a:rPr>
                        <a:t>-3.1% (p=0.027)</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B23A2E"/>
                          </a:solidFill>
                          <a:latin typeface="Calibri" pitchFamily="34" charset="0"/>
                          <a:ea typeface="Calibri" pitchFamily="34" charset="-122"/>
                          <a:cs typeface="Calibri" pitchFamily="34" charset="-120"/>
                        </a:rPr>
                        <a:t>-4.8% (p=0.027)</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B23A2E"/>
                          </a:solidFill>
                          <a:latin typeface="Calibri" pitchFamily="34" charset="0"/>
                          <a:ea typeface="Calibri" pitchFamily="34" charset="-122"/>
                          <a:cs typeface="Calibri" pitchFamily="34" charset="-120"/>
                        </a:rPr>
                        <a:t>-4.8% (p=0.002)</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r>
              <a:tr h="566928">
                <a:tc>
                  <a:txBody>
                    <a:bodyPr/>
                    <a:lstStyle/>
                    <a:p>
                      <a:pPr indent="0" marL="0">
                        <a:buNone/>
                      </a:pPr>
                      <a:r>
                        <a:rPr lang="en-US" sz="1500" dirty="0">
                          <a:solidFill>
                            <a:srgbClr val="1B2A33"/>
                          </a:solidFill>
                          <a:latin typeface="Calibri" pitchFamily="34" charset="0"/>
                          <a:ea typeface="Calibri" pitchFamily="34" charset="-122"/>
                          <a:cs typeface="Calibri" pitchFamily="34" charset="-120"/>
                        </a:rPr>
                        <a:t>JOFO-FedDQN</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b="1" dirty="0">
                          <a:solidFill>
                            <a:srgbClr val="1E7A4F"/>
                          </a:solidFill>
                          <a:latin typeface="Calibri" pitchFamily="34" charset="0"/>
                          <a:ea typeface="Calibri" pitchFamily="34" charset="-122"/>
                          <a:cs typeface="Calibri" pitchFamily="34" charset="-120"/>
                        </a:rPr>
                        <a:t>-62.8% (p=0.006)</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B23A2E"/>
                          </a:solidFill>
                          <a:latin typeface="Calibri" pitchFamily="34" charset="0"/>
                          <a:ea typeface="Calibri" pitchFamily="34" charset="-122"/>
                          <a:cs typeface="Calibri" pitchFamily="34" charset="-120"/>
                        </a:rPr>
                        <a:t>+41.3% (p=0.002)</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b="1" dirty="0">
                          <a:solidFill>
                            <a:srgbClr val="1E7A4F"/>
                          </a:solidFill>
                          <a:latin typeface="Calibri" pitchFamily="34" charset="0"/>
                          <a:ea typeface="Calibri" pitchFamily="34" charset="-122"/>
                          <a:cs typeface="Calibri" pitchFamily="34" charset="-120"/>
                        </a:rPr>
                        <a:t>+8.2% (p=0.014)</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c>
                  <a:txBody>
                    <a:bodyPr/>
                    <a:lstStyle/>
                    <a:p>
                      <a:pPr indent="0" marL="0">
                        <a:buNone/>
                      </a:pPr>
                      <a:r>
                        <a:rPr lang="en-US" sz="1500" b="1" dirty="0">
                          <a:solidFill>
                            <a:srgbClr val="1E7A4F"/>
                          </a:solidFill>
                          <a:latin typeface="Calibri" pitchFamily="34" charset="0"/>
                          <a:ea typeface="Calibri" pitchFamily="34" charset="-122"/>
                          <a:cs typeface="Calibri" pitchFamily="34" charset="-120"/>
                        </a:rPr>
                        <a:t>+16.2% (p=0.002)</a:t>
                      </a:r>
                      <a:endParaRPr lang="en-US" sz="1500" dirty="0">
                        <a:latin typeface="Calibri" charset="0"/>
                        <a:ea typeface="Calibri" charset="0"/>
                        <a:cs typeface="Calibri" charset="0"/>
                      </a:endParaRPr>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tcPr>
                </a:tc>
              </a:tr>
            </a:tbl>
          </a:graphicData>
        </a:graphic>
      </p:graphicFrame>
      <p:sp>
        <p:nvSpPr>
          <p:cNvPr id="4" name="sig_legend"/>
          <p:cNvSpPr txBox="1"/>
          <p:nvPr/>
        </p:nvSpPr>
        <p:spPr>
          <a:xfrm>
            <a:off x="548640" y="5120640"/>
            <a:ext cx="11064240" cy="411480"/>
          </a:xfrm>
          <a:prstGeom prst="rect">
            <a:avLst/>
          </a:prstGeom>
          <a:noFill/>
          <a:ln/>
        </p:spPr>
        <p:txBody>
          <a:bodyPr wrap="square" lIns="0" tIns="0" rIns="0" bIns="0" rtlCol="0" anchor="ctr"/>
          <a:lstStyle/>
          <a:p>
            <a:pPr indent="0" marL="0">
              <a:buNone/>
            </a:pPr>
            <a:r>
              <a:rPr lang="en-US" sz="1400" b="1" dirty="0">
                <a:solidFill>
                  <a:srgbClr val="1E7A4F"/>
                </a:solidFill>
              </a:rPr>
              <a:t>Green</a:t>
            </a:r>
            <a:pPr indent="0" marL="0">
              <a:buNone/>
            </a:pPr>
            <a:r>
              <a:rPr lang="en-US" sz="1400" dirty="0">
                <a:solidFill>
                  <a:srgbClr val="1B2A33"/>
                </a:solidFill>
              </a:rPr>
              <a:t> significant gain   </a:t>
            </a:r>
            <a:pPr indent="0" marL="0">
              <a:buNone/>
            </a:pPr>
            <a:r>
              <a:rPr lang="en-US" sz="1400" b="1" dirty="0">
                <a:solidFill>
                  <a:srgbClr val="B23A2E"/>
                </a:solidFill>
              </a:rPr>
              <a:t>Red</a:t>
            </a:r>
            <a:pPr indent="0" marL="0">
              <a:buNone/>
            </a:pPr>
            <a:r>
              <a:rPr lang="en-US" sz="1400" dirty="0">
                <a:solidFill>
                  <a:srgbClr val="1B2A33"/>
                </a:solidFill>
              </a:rPr>
              <a:t> worse   </a:t>
            </a:r>
            <a:pPr indent="0" marL="0">
              <a:buNone/>
            </a:pPr>
            <a:r>
              <a:rPr lang="en-US" sz="1400" b="1" dirty="0">
                <a:solidFill>
                  <a:srgbClr val="7A8C99"/>
                </a:solidFill>
              </a:rPr>
              <a:t>Gray</a:t>
            </a:r>
            <a:pPr indent="0" marL="0">
              <a:buNone/>
            </a:pPr>
            <a:r>
              <a:rPr lang="en-US" sz="1400" dirty="0">
                <a:solidFill>
                  <a:srgbClr val="1B2A33"/>
                </a:solidFill>
              </a:rPr>
              <a:t> not significant (paired Wilcoxon, 10 seeds)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Best in small wards and clean channels, weaker at scale</a:t>
            </a:r>
            <a:endParaRPr lang="en-US" sz="3000" dirty="0"/>
          </a:p>
        </p:txBody>
      </p:sp>
      <p:graphicFrame>
        <p:nvGraphicFramePr>
          <p:cNvPr id="3" name="chart_nodes" descr=""/>
          <p:cNvGraphicFramePr/>
          <p:nvPr/>
        </p:nvGraphicFramePr>
        <p:xfrm>
          <a:off x="548640" y="1325880"/>
          <a:ext cx="5486400" cy="42976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_channel" descr=""/>
          <p:cNvGraphicFramePr/>
          <p:nvPr/>
        </p:nvGraphicFramePr>
        <p:xfrm>
          <a:off x="6217920" y="1325880"/>
          <a:ext cx="5394960" cy="4297680"/>
        </p:xfrm>
        <a:graphic xmlns:a="http://schemas.openxmlformats.org/drawingml/2006/main">
          <a:graphicData uri="http://schemas.openxmlformats.org/drawingml/2006/chart">
            <c:chart xmlns:c="http://schemas.openxmlformats.org/drawingml/2006/chart" r:id="rId2"/>
          </a:graphicData>
        </a:graphic>
      </p:graphicFrame>
      <p:sp>
        <p:nvSpPr>
          <p:cNvPr id="5" name="scal_note"/>
          <p:cNvSpPr txBox="1"/>
          <p:nvPr/>
        </p:nvSpPr>
        <p:spPr>
          <a:xfrm>
            <a:off x="548640" y="5760720"/>
            <a:ext cx="11064240" cy="411480"/>
          </a:xfrm>
          <a:prstGeom prst="rect">
            <a:avLst/>
          </a:prstGeom>
          <a:noFill/>
          <a:ln/>
        </p:spPr>
        <p:txBody>
          <a:bodyPr wrap="square" lIns="0" tIns="0" rIns="0" bIns="0" rtlCol="0" anchor="ctr"/>
          <a:lstStyle/>
          <a:p>
            <a:pPr indent="0" marL="0">
              <a:buNone/>
            </a:pPr>
            <a:r>
              <a:rPr lang="en-US" sz="1200" i="1" dirty="0">
                <a:solidFill>
                  <a:schemeClr val="accent5"/>
                </a:solidFill>
              </a:rPr>
              <a:t>JOFO-FedDQN omitted for scale (up to 2964 s). Five-seed means.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Premature-heavy wards and battery lifetime</a:t>
            </a:r>
            <a:endParaRPr lang="en-US" sz="3000" dirty="0"/>
          </a:p>
        </p:txBody>
      </p:sp>
      <p:graphicFrame>
        <p:nvGraphicFramePr>
          <p:cNvPr id="3" name="chart_shift" descr=""/>
          <p:cNvGraphicFramePr/>
          <p:nvPr/>
        </p:nvGraphicFramePr>
        <p:xfrm>
          <a:off x="548640" y="132588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_lifetime" descr=""/>
          <p:cNvGraphicFramePr/>
          <p:nvPr/>
        </p:nvGraphicFramePr>
        <p:xfrm>
          <a:off x="6217920" y="1325880"/>
          <a:ext cx="5394960" cy="4206240"/>
        </p:xfrm>
        <a:graphic xmlns:a="http://schemas.openxmlformats.org/drawingml/2006/main">
          <a:graphicData uri="http://schemas.openxmlformats.org/drawingml/2006/chart">
            <c:chart xmlns:c="http://schemas.openxmlformats.org/drawingml/2006/chart" r:id="rId2"/>
          </a:graphicData>
        </a:graphic>
      </p:graphicFrame>
      <p:sp>
        <p:nvSpPr>
          <p:cNvPr id="5" name="shift_note"/>
          <p:cNvSpPr txBox="1"/>
          <p:nvPr/>
        </p:nvSpPr>
        <p:spPr>
          <a:xfrm>
            <a:off x="548640" y="5669280"/>
            <a:ext cx="11064240" cy="548640"/>
          </a:xfrm>
          <a:prstGeom prst="rect">
            <a:avLst/>
          </a:prstGeom>
          <a:noFill/>
          <a:ln/>
        </p:spPr>
        <p:txBody>
          <a:bodyPr wrap="square" lIns="0" tIns="0" rIns="0" bIns="0" rtlCol="0" anchor="ctr"/>
          <a:lstStyle/>
          <a:p>
            <a:pPr indent="0" marL="0">
              <a:buNone/>
            </a:pPr>
            <a:r>
              <a:rPr lang="en-US" sz="1400" i="1" dirty="0">
                <a:solidFill>
                  <a:schemeClr val="tx1"/>
                </a:solidFill>
              </a:rPr>
              <a:t>Lowest crossing latency under the shift (within 0.6% of DT-QMIX, inside seed spread) and 25.1% longer lifetime than PD-NoisyDQN.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Ablation: what each component contributes</a:t>
            </a:r>
            <a:endParaRPr lang="en-US" sz="3000" dirty="0"/>
          </a:p>
        </p:txBody>
      </p:sp>
      <p:graphicFrame>
        <p:nvGraphicFramePr>
          <p:cNvPr id="3" name="chart_ablation" descr=""/>
          <p:cNvGraphicFramePr/>
          <p:nvPr/>
        </p:nvGraphicFramePr>
        <p:xfrm>
          <a:off x="548640" y="132588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ablation_card_0"/>
          <p:cNvSpPr/>
          <p:nvPr/>
        </p:nvSpPr>
        <p:spPr>
          <a:xfrm>
            <a:off x="7589520" y="1417320"/>
            <a:ext cx="4023360" cy="2011680"/>
          </a:xfrm>
          <a:prstGeom prst="roundRect">
            <a:avLst>
              <a:gd name="adj" fmla="val 5455"/>
            </a:avLst>
          </a:prstGeom>
          <a:solidFill>
            <a:schemeClr val="bg2"/>
          </a:solidFill>
          <a:ln w="12700">
            <a:solidFill>
              <a:schemeClr val="bg2"/>
            </a:solidFill>
            <a:prstDash val="solid"/>
          </a:ln>
        </p:spPr>
      </p:sp>
      <p:sp>
        <p:nvSpPr>
          <p:cNvPr id="5" name="ablation_0_circle"/>
          <p:cNvSpPr/>
          <p:nvPr/>
        </p:nvSpPr>
        <p:spPr>
          <a:xfrm>
            <a:off x="7772400" y="1600200"/>
            <a:ext cx="640080" cy="640080"/>
          </a:xfrm>
          <a:prstGeom prst="ellipse">
            <a:avLst/>
          </a:prstGeom>
          <a:solidFill>
            <a:schemeClr val="accent3"/>
          </a:solidFill>
          <a:ln w="12700">
            <a:solidFill>
              <a:schemeClr val="accent3"/>
            </a:solidFill>
            <a:prstDash val="solid"/>
          </a:ln>
        </p:spPr>
      </p:sp>
      <p:pic>
        <p:nvPicPr>
          <p:cNvPr id="6" name="ablation_0_icon" descr="ablation_0">    </p:cNvPr>
          <p:cNvPicPr>
            <a:picLocks noChangeAspect="1"/>
          </p:cNvPicPr>
          <p:nvPr/>
        </p:nvPicPr>
        <p:blipFill>
          <a:blip r:embed="rId2"/>
          <a:stretch>
            <a:fillRect/>
          </a:stretch>
        </p:blipFill>
        <p:spPr>
          <a:xfrm>
            <a:off x="7926019" y="1753819"/>
            <a:ext cx="332842" cy="332842"/>
          </a:xfrm>
          <a:prstGeom prst="rect">
            <a:avLst/>
          </a:prstGeom>
        </p:spPr>
      </p:pic>
      <p:sp>
        <p:nvSpPr>
          <p:cNvPr id="7" name="ablation_title_0"/>
          <p:cNvSpPr txBox="1"/>
          <p:nvPr/>
        </p:nvSpPr>
        <p:spPr>
          <a:xfrm>
            <a:off x="8549640" y="1691640"/>
            <a:ext cx="2926080" cy="457200"/>
          </a:xfrm>
          <a:prstGeom prst="rect">
            <a:avLst/>
          </a:prstGeom>
          <a:noFill/>
          <a:ln/>
        </p:spPr>
        <p:txBody>
          <a:bodyPr wrap="square" lIns="0" tIns="0" rIns="0" bIns="0" rtlCol="0" anchor="ctr"/>
          <a:lstStyle/>
          <a:p>
            <a:pPr indent="0" marL="0">
              <a:buNone/>
            </a:pPr>
            <a:r>
              <a:rPr lang="en-US" sz="1800" b="1" dirty="0">
                <a:solidFill>
                  <a:schemeClr val="tx2"/>
                </a:solidFill>
              </a:rPr>
              <a:t>Helps</a:t>
            </a:r>
            <a:endParaRPr lang="en-US" sz="1800" dirty="0"/>
          </a:p>
        </p:txBody>
      </p:sp>
      <p:sp>
        <p:nvSpPr>
          <p:cNvPr id="8" name="ablation_text_0"/>
          <p:cNvSpPr txBox="1"/>
          <p:nvPr/>
        </p:nvSpPr>
        <p:spPr>
          <a:xfrm>
            <a:off x="7772400" y="2331720"/>
            <a:ext cx="3657600" cy="1005840"/>
          </a:xfrm>
          <a:prstGeom prst="rect">
            <a:avLst/>
          </a:prstGeom>
          <a:noFill/>
          <a:ln/>
        </p:spPr>
        <p:txBody>
          <a:bodyPr wrap="square" lIns="0" tIns="0" rIns="0" bIns="0" rtlCol="0" anchor="t"/>
          <a:lstStyle/>
          <a:p>
            <a:pPr indent="0" marL="0">
              <a:buNone/>
            </a:pPr>
            <a:r>
              <a:rPr lang="en-US" sz="1300" dirty="0">
                <a:solidFill>
                  <a:schemeClr val="tx1"/>
                </a:solidFill>
              </a:rPr>
              <a:t>GA stratification: without it latency +12.4%, energy +56.8%, QoS -7.31. Urgency replay: lowers energy by 16.6%.</a:t>
            </a:r>
            <a:endParaRPr lang="en-US" sz="1300" dirty="0"/>
          </a:p>
        </p:txBody>
      </p:sp>
      <p:sp>
        <p:nvSpPr>
          <p:cNvPr id="9" name="ablation_card_1"/>
          <p:cNvSpPr/>
          <p:nvPr/>
        </p:nvSpPr>
        <p:spPr>
          <a:xfrm>
            <a:off x="7589520" y="3657600"/>
            <a:ext cx="4023360" cy="2011680"/>
          </a:xfrm>
          <a:prstGeom prst="roundRect">
            <a:avLst>
              <a:gd name="adj" fmla="val 5455"/>
            </a:avLst>
          </a:prstGeom>
          <a:solidFill>
            <a:schemeClr val="bg2"/>
          </a:solidFill>
          <a:ln w="12700">
            <a:solidFill>
              <a:schemeClr val="bg2"/>
            </a:solidFill>
            <a:prstDash val="solid"/>
          </a:ln>
        </p:spPr>
      </p:sp>
      <p:sp>
        <p:nvSpPr>
          <p:cNvPr id="10" name="ablation_1_circle"/>
          <p:cNvSpPr/>
          <p:nvPr/>
        </p:nvSpPr>
        <p:spPr>
          <a:xfrm>
            <a:off x="7772400" y="3840480"/>
            <a:ext cx="640080" cy="640080"/>
          </a:xfrm>
          <a:prstGeom prst="ellipse">
            <a:avLst/>
          </a:prstGeom>
          <a:solidFill>
            <a:schemeClr val="accent2"/>
          </a:solidFill>
          <a:ln w="12700">
            <a:solidFill>
              <a:schemeClr val="accent2"/>
            </a:solidFill>
            <a:prstDash val="solid"/>
          </a:ln>
        </p:spPr>
      </p:sp>
      <p:pic>
        <p:nvPicPr>
          <p:cNvPr id="11" name="ablation_1_icon" descr="ablation_1">    </p:cNvPr>
          <p:cNvPicPr>
            <a:picLocks noChangeAspect="1"/>
          </p:cNvPicPr>
          <p:nvPr/>
        </p:nvPicPr>
        <p:blipFill>
          <a:blip r:embed="rId3"/>
          <a:stretch>
            <a:fillRect/>
          </a:stretch>
        </p:blipFill>
        <p:spPr>
          <a:xfrm>
            <a:off x="7926019" y="3994099"/>
            <a:ext cx="332842" cy="332842"/>
          </a:xfrm>
          <a:prstGeom prst="rect">
            <a:avLst/>
          </a:prstGeom>
        </p:spPr>
      </p:pic>
      <p:sp>
        <p:nvSpPr>
          <p:cNvPr id="12" name="ablation_title_1"/>
          <p:cNvSpPr txBox="1"/>
          <p:nvPr/>
        </p:nvSpPr>
        <p:spPr>
          <a:xfrm>
            <a:off x="8549640" y="3931920"/>
            <a:ext cx="2926080" cy="457200"/>
          </a:xfrm>
          <a:prstGeom prst="rect">
            <a:avLst/>
          </a:prstGeom>
          <a:noFill/>
          <a:ln/>
        </p:spPr>
        <p:txBody>
          <a:bodyPr wrap="square" lIns="0" tIns="0" rIns="0" bIns="0" rtlCol="0" anchor="ctr"/>
          <a:lstStyle/>
          <a:p>
            <a:pPr indent="0" marL="0">
              <a:buNone/>
            </a:pPr>
            <a:r>
              <a:rPr lang="en-US" sz="1800" b="1" dirty="0">
                <a:solidFill>
                  <a:schemeClr val="tx2"/>
                </a:solidFill>
              </a:rPr>
              <a:t>Trades off</a:t>
            </a:r>
            <a:endParaRPr lang="en-US" sz="1800" dirty="0"/>
          </a:p>
        </p:txBody>
      </p:sp>
      <p:sp>
        <p:nvSpPr>
          <p:cNvPr id="13" name="ablation_text_1"/>
          <p:cNvSpPr txBox="1"/>
          <p:nvPr/>
        </p:nvSpPr>
        <p:spPr>
          <a:xfrm>
            <a:off x="7772400" y="4572000"/>
            <a:ext cx="3657600" cy="1005840"/>
          </a:xfrm>
          <a:prstGeom prst="rect">
            <a:avLst/>
          </a:prstGeom>
          <a:noFill/>
          <a:ln/>
        </p:spPr>
        <p:txBody>
          <a:bodyPr wrap="square" lIns="0" tIns="0" rIns="0" bIns="0" rtlCol="0" anchor="t"/>
          <a:lstStyle/>
          <a:p>
            <a:pPr indent="0" marL="0">
              <a:buNone/>
            </a:pPr>
            <a:r>
              <a:rPr lang="en-US" sz="1300" dirty="0">
                <a:solidFill>
                  <a:schemeClr val="tx1"/>
                </a:solidFill>
              </a:rPr>
              <a:t>Mask, twin, and oxygen adjustment shift one metric against another without a net gain in this setting.</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Limitations to state openly</a:t>
            </a:r>
            <a:endParaRPr lang="en-US" sz="3000" dirty="0"/>
          </a:p>
        </p:txBody>
      </p:sp>
      <p:sp>
        <p:nvSpPr>
          <p:cNvPr id="3" name="limit_card_0"/>
          <p:cNvSpPr/>
          <p:nvPr/>
        </p:nvSpPr>
        <p:spPr>
          <a:xfrm>
            <a:off x="548640" y="1325880"/>
            <a:ext cx="5394960" cy="2103120"/>
          </a:xfrm>
          <a:prstGeom prst="roundRect">
            <a:avLst>
              <a:gd name="adj" fmla="val 5217"/>
            </a:avLst>
          </a:prstGeom>
          <a:solidFill>
            <a:schemeClr val="bg2"/>
          </a:solidFill>
          <a:ln w="12700">
            <a:solidFill>
              <a:schemeClr val="bg2"/>
            </a:solidFill>
            <a:prstDash val="solid"/>
          </a:ln>
        </p:spPr>
      </p:sp>
      <p:sp>
        <p:nvSpPr>
          <p:cNvPr id="4" name="limit_0_circle"/>
          <p:cNvSpPr/>
          <p:nvPr/>
        </p:nvSpPr>
        <p:spPr>
          <a:xfrm>
            <a:off x="822960" y="1645920"/>
            <a:ext cx="731520" cy="731520"/>
          </a:xfrm>
          <a:prstGeom prst="ellipse">
            <a:avLst/>
          </a:prstGeom>
          <a:solidFill>
            <a:schemeClr val="accent5"/>
          </a:solidFill>
          <a:ln w="12700">
            <a:solidFill>
              <a:schemeClr val="accent5"/>
            </a:solidFill>
            <a:prstDash val="solid"/>
          </a:ln>
        </p:spPr>
      </p:sp>
      <p:pic>
        <p:nvPicPr>
          <p:cNvPr id="5" name="limit_0_icon" descr="limit_0">    </p:cNvPr>
          <p:cNvPicPr>
            <a:picLocks noChangeAspect="1"/>
          </p:cNvPicPr>
          <p:nvPr/>
        </p:nvPicPr>
        <p:blipFill>
          <a:blip r:embed="rId1"/>
          <a:stretch>
            <a:fillRect/>
          </a:stretch>
        </p:blipFill>
        <p:spPr>
          <a:xfrm>
            <a:off x="998525" y="1821485"/>
            <a:ext cx="380390" cy="380390"/>
          </a:xfrm>
          <a:prstGeom prst="rect">
            <a:avLst/>
          </a:prstGeom>
        </p:spPr>
      </p:pic>
      <p:sp>
        <p:nvSpPr>
          <p:cNvPr id="6" name="limit_title_0"/>
          <p:cNvSpPr txBox="1"/>
          <p:nvPr/>
        </p:nvSpPr>
        <p:spPr>
          <a:xfrm>
            <a:off x="1783080" y="1645920"/>
            <a:ext cx="3977640" cy="457200"/>
          </a:xfrm>
          <a:prstGeom prst="rect">
            <a:avLst/>
          </a:prstGeom>
          <a:noFill/>
          <a:ln/>
        </p:spPr>
        <p:txBody>
          <a:bodyPr wrap="square" lIns="0" tIns="0" rIns="0" bIns="0" rtlCol="0" anchor="ctr"/>
          <a:lstStyle/>
          <a:p>
            <a:pPr indent="0" marL="0">
              <a:buNone/>
            </a:pPr>
            <a:r>
              <a:rPr lang="en-US" sz="1900" b="1" dirty="0">
                <a:solidFill>
                  <a:schemeClr val="tx2"/>
                </a:solidFill>
              </a:rPr>
              <a:t>Semi-synthetic outcomes</a:t>
            </a:r>
            <a:endParaRPr lang="en-US" sz="1900" dirty="0"/>
          </a:p>
        </p:txBody>
      </p:sp>
      <p:sp>
        <p:nvSpPr>
          <p:cNvPr id="7" name="limit_text_0"/>
          <p:cNvSpPr txBox="1"/>
          <p:nvPr/>
        </p:nvSpPr>
        <p:spPr>
          <a:xfrm>
            <a:off x="1783080" y="2194560"/>
            <a:ext cx="3977640" cy="1051560"/>
          </a:xfrm>
          <a:prstGeom prst="rect">
            <a:avLst/>
          </a:prstGeom>
          <a:noFill/>
          <a:ln/>
        </p:spPr>
        <p:txBody>
          <a:bodyPr wrap="square" lIns="0" tIns="0" rIns="0" bIns="0" rtlCol="0" anchor="t"/>
          <a:lstStyle/>
          <a:p>
            <a:pPr indent="0" marL="0">
              <a:buNone/>
            </a:pPr>
            <a:r>
              <a:rPr lang="en-US" sz="1500" dirty="0">
                <a:solidFill>
                  <a:schemeClr val="tx1"/>
                </a:solidFill>
              </a:rPr>
              <a:t>Effect sizes are modeling assumptions calibrated to treatment and regression rates.</a:t>
            </a:r>
            <a:endParaRPr lang="en-US" sz="1500" dirty="0"/>
          </a:p>
        </p:txBody>
      </p:sp>
      <p:sp>
        <p:nvSpPr>
          <p:cNvPr id="8" name="limit_card_1"/>
          <p:cNvSpPr/>
          <p:nvPr/>
        </p:nvSpPr>
        <p:spPr>
          <a:xfrm>
            <a:off x="6172200" y="1325880"/>
            <a:ext cx="5394960" cy="2103120"/>
          </a:xfrm>
          <a:prstGeom prst="roundRect">
            <a:avLst>
              <a:gd name="adj" fmla="val 5217"/>
            </a:avLst>
          </a:prstGeom>
          <a:solidFill>
            <a:schemeClr val="bg2"/>
          </a:solidFill>
          <a:ln w="12700">
            <a:solidFill>
              <a:schemeClr val="bg2"/>
            </a:solidFill>
            <a:prstDash val="solid"/>
          </a:ln>
        </p:spPr>
      </p:sp>
      <p:sp>
        <p:nvSpPr>
          <p:cNvPr id="9" name="limit_1_circle"/>
          <p:cNvSpPr/>
          <p:nvPr/>
        </p:nvSpPr>
        <p:spPr>
          <a:xfrm>
            <a:off x="6446520" y="1645920"/>
            <a:ext cx="731520" cy="731520"/>
          </a:xfrm>
          <a:prstGeom prst="ellipse">
            <a:avLst/>
          </a:prstGeom>
          <a:solidFill>
            <a:schemeClr val="accent5"/>
          </a:solidFill>
          <a:ln w="12700">
            <a:solidFill>
              <a:schemeClr val="accent5"/>
            </a:solidFill>
            <a:prstDash val="solid"/>
          </a:ln>
        </p:spPr>
      </p:sp>
      <p:pic>
        <p:nvPicPr>
          <p:cNvPr id="10" name="limit_1_icon" descr="limit_1">    </p:cNvPr>
          <p:cNvPicPr>
            <a:picLocks noChangeAspect="1"/>
          </p:cNvPicPr>
          <p:nvPr/>
        </p:nvPicPr>
        <p:blipFill>
          <a:blip r:embed="rId2"/>
          <a:stretch>
            <a:fillRect/>
          </a:stretch>
        </p:blipFill>
        <p:spPr>
          <a:xfrm>
            <a:off x="6622085" y="1821485"/>
            <a:ext cx="380390" cy="380390"/>
          </a:xfrm>
          <a:prstGeom prst="rect">
            <a:avLst/>
          </a:prstGeom>
        </p:spPr>
      </p:pic>
      <p:sp>
        <p:nvSpPr>
          <p:cNvPr id="11" name="limit_title_1"/>
          <p:cNvSpPr txBox="1"/>
          <p:nvPr/>
        </p:nvSpPr>
        <p:spPr>
          <a:xfrm>
            <a:off x="7406640" y="1645920"/>
            <a:ext cx="3977640" cy="457200"/>
          </a:xfrm>
          <a:prstGeom prst="rect">
            <a:avLst/>
          </a:prstGeom>
          <a:noFill/>
          <a:ln/>
        </p:spPr>
        <p:txBody>
          <a:bodyPr wrap="square" lIns="0" tIns="0" rIns="0" bIns="0" rtlCol="0" anchor="ctr"/>
          <a:lstStyle/>
          <a:p>
            <a:pPr indent="0" marL="0">
              <a:buNone/>
            </a:pPr>
            <a:r>
              <a:rPr lang="en-US" sz="1900" b="1" dirty="0">
                <a:solidFill>
                  <a:schemeClr val="tx2"/>
                </a:solidFill>
              </a:rPr>
              <a:t>Few treated infants</a:t>
            </a:r>
            <a:endParaRPr lang="en-US" sz="1900" dirty="0"/>
          </a:p>
        </p:txBody>
      </p:sp>
      <p:sp>
        <p:nvSpPr>
          <p:cNvPr id="12" name="limit_text_1"/>
          <p:cNvSpPr txBox="1"/>
          <p:nvPr/>
        </p:nvSpPr>
        <p:spPr>
          <a:xfrm>
            <a:off x="7406640" y="2194560"/>
            <a:ext cx="3977640" cy="1051560"/>
          </a:xfrm>
          <a:prstGeom prst="rect">
            <a:avLst/>
          </a:prstGeom>
          <a:noFill/>
          <a:ln/>
        </p:spPr>
        <p:txBody>
          <a:bodyPr wrap="square" lIns="0" tIns="0" rIns="0" bIns="0" rtlCol="0" anchor="t"/>
          <a:lstStyle/>
          <a:p>
            <a:pPr indent="0" marL="0">
              <a:buNone/>
            </a:pPr>
            <a:r>
              <a:rPr lang="en-US" sz="1500" dirty="0">
                <a:solidFill>
                  <a:schemeClr val="tx1"/>
                </a:solidFill>
              </a:rPr>
              <a:t>Five treatment-indicated infants confine identification to the youngest stratum.</a:t>
            </a:r>
            <a:endParaRPr lang="en-US" sz="1500" dirty="0"/>
          </a:p>
        </p:txBody>
      </p:sp>
      <p:sp>
        <p:nvSpPr>
          <p:cNvPr id="13" name="limit_card_2"/>
          <p:cNvSpPr/>
          <p:nvPr/>
        </p:nvSpPr>
        <p:spPr>
          <a:xfrm>
            <a:off x="548640" y="3657600"/>
            <a:ext cx="5394960" cy="2103120"/>
          </a:xfrm>
          <a:prstGeom prst="roundRect">
            <a:avLst>
              <a:gd name="adj" fmla="val 5217"/>
            </a:avLst>
          </a:prstGeom>
          <a:solidFill>
            <a:schemeClr val="bg2"/>
          </a:solidFill>
          <a:ln w="12700">
            <a:solidFill>
              <a:schemeClr val="bg2"/>
            </a:solidFill>
            <a:prstDash val="solid"/>
          </a:ln>
        </p:spPr>
      </p:sp>
      <p:sp>
        <p:nvSpPr>
          <p:cNvPr id="14" name="limit_2_circle"/>
          <p:cNvSpPr/>
          <p:nvPr/>
        </p:nvSpPr>
        <p:spPr>
          <a:xfrm>
            <a:off x="822960" y="3977640"/>
            <a:ext cx="731520" cy="731520"/>
          </a:xfrm>
          <a:prstGeom prst="ellipse">
            <a:avLst/>
          </a:prstGeom>
          <a:solidFill>
            <a:schemeClr val="accent5"/>
          </a:solidFill>
          <a:ln w="12700">
            <a:solidFill>
              <a:schemeClr val="accent5"/>
            </a:solidFill>
            <a:prstDash val="solid"/>
          </a:ln>
        </p:spPr>
      </p:sp>
      <p:pic>
        <p:nvPicPr>
          <p:cNvPr id="15" name="limit_2_icon" descr="limit_2">    </p:cNvPr>
          <p:cNvPicPr>
            <a:picLocks noChangeAspect="1"/>
          </p:cNvPicPr>
          <p:nvPr/>
        </p:nvPicPr>
        <p:blipFill>
          <a:blip r:embed="rId3"/>
          <a:stretch>
            <a:fillRect/>
          </a:stretch>
        </p:blipFill>
        <p:spPr>
          <a:xfrm>
            <a:off x="998525" y="4153205"/>
            <a:ext cx="380390" cy="380390"/>
          </a:xfrm>
          <a:prstGeom prst="rect">
            <a:avLst/>
          </a:prstGeom>
        </p:spPr>
      </p:pic>
      <p:sp>
        <p:nvSpPr>
          <p:cNvPr id="16" name="limit_title_2"/>
          <p:cNvSpPr txBox="1"/>
          <p:nvPr/>
        </p:nvSpPr>
        <p:spPr>
          <a:xfrm>
            <a:off x="1783080" y="3977640"/>
            <a:ext cx="3977640" cy="457200"/>
          </a:xfrm>
          <a:prstGeom prst="rect">
            <a:avLst/>
          </a:prstGeom>
          <a:noFill/>
          <a:ln/>
        </p:spPr>
        <p:txBody>
          <a:bodyPr wrap="square" lIns="0" tIns="0" rIns="0" bIns="0" rtlCol="0" anchor="ctr"/>
          <a:lstStyle/>
          <a:p>
            <a:pPr indent="0" marL="0">
              <a:buNone/>
            </a:pPr>
            <a:r>
              <a:rPr lang="en-US" sz="1900" b="1" dirty="0">
                <a:solidFill>
                  <a:schemeClr val="tx2"/>
                </a:solidFill>
              </a:rPr>
              <a:t>No image processing</a:t>
            </a:r>
            <a:endParaRPr lang="en-US" sz="1900" dirty="0"/>
          </a:p>
        </p:txBody>
      </p:sp>
      <p:sp>
        <p:nvSpPr>
          <p:cNvPr id="17" name="limit_text_2"/>
          <p:cNvSpPr txBox="1"/>
          <p:nvPr/>
        </p:nvSpPr>
        <p:spPr>
          <a:xfrm>
            <a:off x="1783080" y="4526280"/>
            <a:ext cx="3977640" cy="1051560"/>
          </a:xfrm>
          <a:prstGeom prst="rect">
            <a:avLst/>
          </a:prstGeom>
          <a:noFill/>
          <a:ln/>
        </p:spPr>
        <p:txBody>
          <a:bodyPr wrap="square" lIns="0" tIns="0" rIns="0" bIns="0" rtlCol="0" anchor="t"/>
          <a:lstStyle/>
          <a:p>
            <a:pPr indent="0" marL="0">
              <a:buNone/>
            </a:pPr>
            <a:r>
              <a:rPr lang="en-US" sz="1500" dirty="0">
                <a:solidFill>
                  <a:schemeClr val="tx1"/>
                </a:solidFill>
              </a:rPr>
              <a:t>Retinal images are not analyzed; inference enters only as a compute cost.</a:t>
            </a:r>
            <a:endParaRPr lang="en-US" sz="1500" dirty="0"/>
          </a:p>
        </p:txBody>
      </p:sp>
      <p:sp>
        <p:nvSpPr>
          <p:cNvPr id="18" name="limit_card_3"/>
          <p:cNvSpPr/>
          <p:nvPr/>
        </p:nvSpPr>
        <p:spPr>
          <a:xfrm>
            <a:off x="6172200" y="3657600"/>
            <a:ext cx="5394960" cy="2103120"/>
          </a:xfrm>
          <a:prstGeom prst="roundRect">
            <a:avLst>
              <a:gd name="adj" fmla="val 5217"/>
            </a:avLst>
          </a:prstGeom>
          <a:solidFill>
            <a:schemeClr val="bg2"/>
          </a:solidFill>
          <a:ln w="12700">
            <a:solidFill>
              <a:schemeClr val="bg2"/>
            </a:solidFill>
            <a:prstDash val="solid"/>
          </a:ln>
        </p:spPr>
      </p:sp>
      <p:sp>
        <p:nvSpPr>
          <p:cNvPr id="19" name="limit_3_circle"/>
          <p:cNvSpPr/>
          <p:nvPr/>
        </p:nvSpPr>
        <p:spPr>
          <a:xfrm>
            <a:off x="6446520" y="3977640"/>
            <a:ext cx="731520" cy="731520"/>
          </a:xfrm>
          <a:prstGeom prst="ellipse">
            <a:avLst/>
          </a:prstGeom>
          <a:solidFill>
            <a:schemeClr val="accent5"/>
          </a:solidFill>
          <a:ln w="12700">
            <a:solidFill>
              <a:schemeClr val="accent5"/>
            </a:solidFill>
            <a:prstDash val="solid"/>
          </a:ln>
        </p:spPr>
      </p:sp>
      <p:pic>
        <p:nvPicPr>
          <p:cNvPr id="20" name="limit_3_icon" descr="limit_3">    </p:cNvPr>
          <p:cNvPicPr>
            <a:picLocks noChangeAspect="1"/>
          </p:cNvPicPr>
          <p:nvPr/>
        </p:nvPicPr>
        <p:blipFill>
          <a:blip r:embed="rId4"/>
          <a:stretch>
            <a:fillRect/>
          </a:stretch>
        </p:blipFill>
        <p:spPr>
          <a:xfrm>
            <a:off x="6622085" y="4153205"/>
            <a:ext cx="380390" cy="380390"/>
          </a:xfrm>
          <a:prstGeom prst="rect">
            <a:avLst/>
          </a:prstGeom>
        </p:spPr>
      </p:pic>
      <p:sp>
        <p:nvSpPr>
          <p:cNvPr id="21" name="limit_title_3"/>
          <p:cNvSpPr txBox="1"/>
          <p:nvPr/>
        </p:nvSpPr>
        <p:spPr>
          <a:xfrm>
            <a:off x="7406640" y="3977640"/>
            <a:ext cx="3977640" cy="457200"/>
          </a:xfrm>
          <a:prstGeom prst="rect">
            <a:avLst/>
          </a:prstGeom>
          <a:noFill/>
          <a:ln/>
        </p:spPr>
        <p:txBody>
          <a:bodyPr wrap="square" lIns="0" tIns="0" rIns="0" bIns="0" rtlCol="0" anchor="ctr"/>
          <a:lstStyle/>
          <a:p>
            <a:pPr indent="0" marL="0">
              <a:buNone/>
            </a:pPr>
            <a:r>
              <a:rPr lang="en-US" sz="1900" b="1" dirty="0">
                <a:solidFill>
                  <a:schemeClr val="tx2"/>
                </a:solidFill>
              </a:rPr>
              <a:t>Simulated network</a:t>
            </a:r>
            <a:endParaRPr lang="en-US" sz="1900" dirty="0"/>
          </a:p>
        </p:txBody>
      </p:sp>
      <p:sp>
        <p:nvSpPr>
          <p:cNvPr id="22" name="limit_text_3"/>
          <p:cNvSpPr txBox="1"/>
          <p:nvPr/>
        </p:nvSpPr>
        <p:spPr>
          <a:xfrm>
            <a:off x="7406640" y="4526280"/>
            <a:ext cx="3977640" cy="1051560"/>
          </a:xfrm>
          <a:prstGeom prst="rect">
            <a:avLst/>
          </a:prstGeom>
          <a:noFill/>
          <a:ln/>
        </p:spPr>
        <p:txBody>
          <a:bodyPr wrap="square" lIns="0" tIns="0" rIns="0" bIns="0" rtlCol="0" anchor="t"/>
          <a:lstStyle/>
          <a:p>
            <a:pPr indent="0" marL="0">
              <a:buNone/>
            </a:pPr>
            <a:r>
              <a:rPr lang="en-US" sz="1500" dirty="0">
                <a:solidFill>
                  <a:schemeClr val="tx1"/>
                </a:solidFill>
              </a:rPr>
              <a:t>Baselines re-implement each line's core mechanism, not the original code.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10881360" cy="2011680"/>
          </a:xfrm>
          <a:prstGeom prst="rect">
            <a:avLst/>
          </a:prstGeom>
          <a:noFill/>
          <a:ln/>
        </p:spPr>
        <p:txBody>
          <a:bodyPr wrap="square" rtlCol="0" anchor="b"/>
          <a:lstStyle/>
          <a:p>
            <a:pPr indent="0" marL="0">
              <a:buNone/>
            </a:pPr>
            <a:r>
              <a:rPr lang="en-US" sz="3600" b="1" dirty="0">
                <a:solidFill>
                  <a:schemeClr val="bg1"/>
                </a:solidFill>
                <a:latin typeface="Cambria" pitchFamily="34" charset="0"/>
                <a:ea typeface="Cambria" pitchFamily="34" charset="-122"/>
                <a:cs typeface="Cambria" pitchFamily="34" charset="-120"/>
              </a:rPr>
              <a:t>Takeaways and next steps</a:t>
            </a:r>
            <a:endParaRPr lang="en-US" sz="3600" dirty="0"/>
          </a:p>
        </p:txBody>
      </p:sp>
      <p:sp>
        <p:nvSpPr>
          <p:cNvPr id="3" name="Text 0"/>
          <p:cNvSpPr/>
          <p:nvPr>
            <p:ph idx="101" type="body" hasCustomPrompt="1"/>
          </p:nvPr>
        </p:nvSpPr>
        <p:spPr>
          <a:xfrm>
            <a:off x="640080" y="3840480"/>
            <a:ext cx="10881360" cy="1463040"/>
          </a:xfrm>
          <a:prstGeom prst="rect">
            <a:avLst/>
          </a:prstGeom>
          <a:noFill/>
          <a:ln/>
        </p:spPr>
        <p:txBody>
          <a:bodyPr wrap="square" rtlCol="0" anchor="t"/>
          <a:lstStyle/>
          <a:p>
            <a:pPr marL="342900" indent="-342900">
              <a:spcAft>
                <a:spcPts val="800"/>
              </a:spcAft>
              <a:buSzPct val="100000"/>
              <a:buChar char="•"/>
            </a:pPr>
            <a:r>
              <a:rPr lang="en-US" sz="1800" dirty="0">
                <a:solidFill>
                  <a:schemeClr val="bg2"/>
                </a:solidFill>
              </a:rPr>
              <a:t>25.2% lower threshold-crossing latency than the baseline mean; up to 62.8% against individual baselines</a:t>
            </a:r>
            <a:endParaRPr lang="en-US" sz="1800" dirty="0"/>
          </a:p>
          <a:p>
            <a:pPr marL="342900" indent="-342900">
              <a:spcAft>
                <a:spcPts val="800"/>
              </a:spcAft>
              <a:buSzPct val="100000"/>
              <a:buChar char="•"/>
            </a:pPr>
            <a:r>
              <a:rPr lang="en-US" sz="1800" dirty="0">
                <a:solidFill>
                  <a:schemeClr val="bg2"/>
                </a:solidFill>
              </a:rPr>
              <a:t>Provable bandwidth protection for high-risk infants; stratification and urgency replay carry the gains</a:t>
            </a:r>
            <a:endParaRPr lang="en-US" sz="1800" dirty="0"/>
          </a:p>
          <a:p>
            <a:pPr marL="342900" indent="-342900">
              <a:spcAft>
                <a:spcPts val="800"/>
              </a:spcAft>
              <a:buSzPct val="100000"/>
              <a:buChar char="•"/>
            </a:pPr>
            <a:r>
              <a:rPr lang="en-US" sz="1800" dirty="0">
                <a:solidFill>
                  <a:schemeClr val="bg2"/>
                </a:solidFill>
              </a:rPr>
              <a:t>Next: learn the mask threshold with constrained RL, make offloading channel-aware, validate on larger treated cohorts and real images</a:t>
            </a:r>
            <a:endParaRPr lang="en-US" sz="1800" dirty="0"/>
          </a:p>
        </p:txBody>
      </p:sp>
    </p:spTree>
  </p:cSld>
  <p:clrMapOvr>
    <a:masterClrMapping/>
  </p:clrMapOvr>
</p:sld>
</file>

<file path=ppt/theme/theme1.xml><?xml version="1.0" encoding="utf-8"?>
<a:theme xmlns:a="http://schemas.openxmlformats.org/drawingml/2006/main" name="Neonatal Petrol">
  <a:themeElements>
    <a:clrScheme name="Neonatal Petrol">
      <a:dk1>
        <a:srgbClr val="1B2A33"/>
      </a:dk1>
      <a:lt1>
        <a:srgbClr val="FFFFFF"/>
      </a:lt1>
      <a:dk2>
        <a:srgbClr val="0B4F6C"/>
      </a:dk2>
      <a:lt2>
        <a:srgbClr val="EEF4F6"/>
      </a:lt2>
      <a:accent1>
        <a:srgbClr val="0B4F6C"/>
      </a:accent1>
      <a:accent2>
        <a:srgbClr val="E8665A"/>
      </a:accent2>
      <a:accent3>
        <a:srgbClr val="2A9D8F"/>
      </a:accent3>
      <a:accent4>
        <a:srgbClr val="F2B33D"/>
      </a:accent4>
      <a:accent5>
        <a:srgbClr val="7A8C99"/>
      </a:accent5>
      <a:accent6>
        <a:srgbClr val="5B3A70"/>
      </a:accent6>
      <a:hlink>
        <a:srgbClr val="0B4F6C"/>
      </a:hlink>
      <a:folHlink>
        <a:srgbClr val="5B3A70"/>
      </a:folHlink>
    </a:clrScheme>
    <a:fontScheme name="Neonatal Petro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InterventionROP-Edge</dc:title>
  <dc:subject>PptxGenJS Presentation</dc:subject>
  <dc:creator>PptxGenJS</dc:creator>
  <cp:lastModifiedBy>PptxGenJS</cp:lastModifiedBy>
  <cp:revision>1</cp:revision>
  <dcterms:created xsi:type="dcterms:W3CDTF">2026-10-27T20:13:17Z</dcterms:created>
  <dcterms:modified xsi:type="dcterms:W3CDTF">2026-10-27T20:13:17Z</dcterms:modified>
</cp:coreProperties>
</file>